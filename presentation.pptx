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AQDesk is a community and knowledge platform for emerging technologies. This deck covers what the prototype implements, what it deliberately defers, and how it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a single ecosystem instead of four separate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Dashboard has no FR in the main file — it appears only in the Prototype Assignment, so we designed its content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is a working module. Offer to demo any of them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Separating coarse access (middleware) from fine access (ownership) is the key design idea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tip: sign in as member, then expert, then admin, back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polymorphic votes table is a good answer if asked "what would you do differently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unique index — correctness enforced at the database level, not only in PHP.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modular separation is what allows the four deferred modules to be added without touching existing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DDL is in /schema/aqdesk_schema.sql; migrations build the same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requirements come verbatim from the Prototype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 question on the CDN choice. The answer is reproducibility for the evaluator, with a build pipeline planned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planned: social login to complete FR1, a formal WCAG audit, a PHPUnit suite, and cloud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honestly if asked what was hardest: getting authorisation right without duplicating checks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offering the live walkthrough. Demo accounts all use the password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9052560" y="-1371600"/>
            <a:ext cx="5120640" cy="5120640"/>
          </a:xfrm>
          <a:prstGeom prst="ellipse">
            <a:avLst/>
          </a:prstGeom>
          <a:solidFill>
            <a:srgbClr val="1B3A5C"/>
          </a:solidFill>
          <a:ln/>
        </p:spPr>
      </p:sp>
      <p:sp>
        <p:nvSpPr>
          <p:cNvPr id="3" name="Shape 1"/>
          <p:cNvSpPr/>
          <p:nvPr/>
        </p:nvSpPr>
        <p:spPr>
          <a:xfrm>
            <a:off x="10607040" y="4206240"/>
            <a:ext cx="2926080" cy="2926080"/>
          </a:xfrm>
          <a:prstGeom prst="ellipse">
            <a:avLst/>
          </a:prstGeom>
          <a:solidFill>
            <a:srgbClr val="0E7490"/>
          </a:solidFill>
          <a:ln/>
        </p:spPr>
      </p:sp>
      <p:sp>
        <p:nvSpPr>
          <p:cNvPr id="4" name="Text 2"/>
          <p:cNvSpPr/>
          <p:nvPr/>
        </p:nvSpPr>
        <p:spPr>
          <a:xfrm>
            <a:off x="566928" y="1325880"/>
            <a:ext cx="8229600" cy="274320"/>
          </a:xfrm>
          <a:prstGeom prst="rect">
            <a:avLst/>
          </a:prstGeom>
          <a:noFill/>
          <a:ln/>
        </p:spPr>
        <p:txBody>
          <a:bodyPr wrap="square" lIns="0" tIns="0" rIns="0" bIns="0" rtlCol="0" anchor="ctr"/>
          <a:lstStyle/>
          <a:p>
            <a:pPr indent="0" marL="0">
              <a:buNone/>
            </a:pPr>
            <a:r>
              <a:rPr lang="en-US" sz="1300" b="1" spc="250" kern="0" dirty="0">
                <a:solidFill>
                  <a:srgbClr val="22D3EE"/>
                </a:solidFill>
                <a:latin typeface="Calibri" pitchFamily="34" charset="0"/>
                <a:ea typeface="Calibri" pitchFamily="34" charset="-122"/>
                <a:cs typeface="Calibri" pitchFamily="34" charset="-120"/>
              </a:rPr>
              <a:t>CS619 · FINAL YEAR PROJECT · PROTOTYPE PHASE</a:t>
            </a:r>
            <a:endParaRPr lang="en-US" sz="1300" dirty="0"/>
          </a:p>
        </p:txBody>
      </p:sp>
      <p:sp>
        <p:nvSpPr>
          <p:cNvPr id="5" name="Text 3"/>
          <p:cNvSpPr/>
          <p:nvPr/>
        </p:nvSpPr>
        <p:spPr>
          <a:xfrm>
            <a:off x="566928" y="1737360"/>
            <a:ext cx="8229600" cy="1371600"/>
          </a:xfrm>
          <a:prstGeom prst="rect">
            <a:avLst/>
          </a:prstGeom>
          <a:noFill/>
          <a:ln/>
        </p:spPr>
        <p:txBody>
          <a:bodyPr wrap="square" lIns="0" tIns="0" rIns="0" bIns="0" rtlCol="0" anchor="ctr"/>
          <a:lstStyle/>
          <a:p>
            <a:pPr indent="0" marL="0">
              <a:buNone/>
            </a:pPr>
            <a:r>
              <a:rPr lang="en-US" sz="7800" b="1" dirty="0">
                <a:solidFill>
                  <a:srgbClr val="FFFFFF"/>
                </a:solidFill>
                <a:latin typeface="Calibri" pitchFamily="34" charset="0"/>
                <a:ea typeface="Calibri" pitchFamily="34" charset="-122"/>
                <a:cs typeface="Calibri" pitchFamily="34" charset="-120"/>
              </a:rPr>
              <a:t>AQDesk</a:t>
            </a:r>
            <a:endParaRPr lang="en-US" sz="7800" dirty="0"/>
          </a:p>
        </p:txBody>
      </p:sp>
      <p:sp>
        <p:nvSpPr>
          <p:cNvPr id="6" name="Text 4"/>
          <p:cNvSpPr/>
          <p:nvPr/>
        </p:nvSpPr>
        <p:spPr>
          <a:xfrm>
            <a:off x="566928" y="3063240"/>
            <a:ext cx="7680960" cy="731520"/>
          </a:xfrm>
          <a:prstGeom prst="rect">
            <a:avLst/>
          </a:prstGeom>
          <a:noFill/>
          <a:ln/>
        </p:spPr>
        <p:txBody>
          <a:bodyPr wrap="square" lIns="0" tIns="0" rIns="0" bIns="0" rtlCol="0" anchor="ctr"/>
          <a:lstStyle/>
          <a:p>
            <a:pPr indent="0" marL="0">
              <a:buNone/>
            </a:pPr>
            <a:r>
              <a:rPr lang="en-US" sz="2100" dirty="0">
                <a:solidFill>
                  <a:srgbClr val="CBD5E1"/>
                </a:solidFill>
                <a:latin typeface="Calibri" pitchFamily="34" charset="0"/>
                <a:ea typeface="Calibri" pitchFamily="34" charset="-122"/>
                <a:cs typeface="Calibri" pitchFamily="34" charset="-120"/>
              </a:rPr>
              <a:t>Answer Question Community, Learning and Knowledge Platform</a:t>
            </a:r>
            <a:endParaRPr lang="en-US" sz="2100" dirty="0"/>
          </a:p>
        </p:txBody>
      </p:sp>
      <p:sp>
        <p:nvSpPr>
          <p:cNvPr id="7" name="Text 5"/>
          <p:cNvSpPr/>
          <p:nvPr/>
        </p:nvSpPr>
        <p:spPr>
          <a:xfrm>
            <a:off x="566928" y="3886200"/>
            <a:ext cx="7680960" cy="365760"/>
          </a:xfrm>
          <a:prstGeom prst="rect">
            <a:avLst/>
          </a:prstGeom>
          <a:noFill/>
          <a:ln/>
        </p:spPr>
        <p:txBody>
          <a:bodyPr wrap="square" lIns="0" tIns="0" rIns="0" bIns="0" rtlCol="0" anchor="ctr"/>
          <a:lstStyle/>
          <a:p>
            <a:pPr indent="0" marL="0">
              <a:buNone/>
            </a:pPr>
            <a:r>
              <a:rPr lang="en-US" sz="1500" i="1" dirty="0">
                <a:solidFill>
                  <a:srgbClr val="22D3EE"/>
                </a:solidFill>
                <a:latin typeface="Calibri" pitchFamily="34" charset="0"/>
                <a:ea typeface="Calibri" pitchFamily="34" charset="-122"/>
                <a:cs typeface="Calibri" pitchFamily="34" charset="-120"/>
              </a:rPr>
              <a:t>A working prototype — six modules, live database, real workflows.</a:t>
            </a:r>
            <a:endParaRPr lang="en-US" sz="1500" dirty="0"/>
          </a:p>
        </p:txBody>
      </p:sp>
      <p:sp>
        <p:nvSpPr>
          <p:cNvPr id="8" name="Text 6"/>
          <p:cNvSpPr/>
          <p:nvPr/>
        </p:nvSpPr>
        <p:spPr>
          <a:xfrm>
            <a:off x="566928" y="4983480"/>
            <a:ext cx="1920240" cy="3291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Laravel 12</a:t>
            </a:r>
            <a:endParaRPr lang="en-US" sz="1900" dirty="0"/>
          </a:p>
        </p:txBody>
      </p:sp>
      <p:sp>
        <p:nvSpPr>
          <p:cNvPr id="9" name="Text 7"/>
          <p:cNvSpPr/>
          <p:nvPr/>
        </p:nvSpPr>
        <p:spPr>
          <a:xfrm>
            <a:off x="566928" y="5303520"/>
            <a:ext cx="192024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PHP 8.2</a:t>
            </a:r>
            <a:endParaRPr lang="en-US" sz="1200" dirty="0"/>
          </a:p>
        </p:txBody>
      </p:sp>
      <p:sp>
        <p:nvSpPr>
          <p:cNvPr id="10" name="Text 8"/>
          <p:cNvSpPr/>
          <p:nvPr/>
        </p:nvSpPr>
        <p:spPr>
          <a:xfrm>
            <a:off x="2688336" y="4983480"/>
            <a:ext cx="1920240" cy="3291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MySQL 8</a:t>
            </a:r>
            <a:endParaRPr lang="en-US" sz="1900" dirty="0"/>
          </a:p>
        </p:txBody>
      </p:sp>
      <p:sp>
        <p:nvSpPr>
          <p:cNvPr id="11" name="Text 9"/>
          <p:cNvSpPr/>
          <p:nvPr/>
        </p:nvSpPr>
        <p:spPr>
          <a:xfrm>
            <a:off x="2688336" y="5303520"/>
            <a:ext cx="192024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11 tables</a:t>
            </a:r>
            <a:endParaRPr lang="en-US" sz="1200" dirty="0"/>
          </a:p>
        </p:txBody>
      </p:sp>
      <p:sp>
        <p:nvSpPr>
          <p:cNvPr id="12" name="Text 10"/>
          <p:cNvSpPr/>
          <p:nvPr/>
        </p:nvSpPr>
        <p:spPr>
          <a:xfrm>
            <a:off x="4809744" y="4983480"/>
            <a:ext cx="1920240" cy="3291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Bootstrap 5</a:t>
            </a:r>
            <a:endParaRPr lang="en-US" sz="1900" dirty="0"/>
          </a:p>
        </p:txBody>
      </p:sp>
      <p:sp>
        <p:nvSpPr>
          <p:cNvPr id="13" name="Text 11"/>
          <p:cNvSpPr/>
          <p:nvPr/>
        </p:nvSpPr>
        <p:spPr>
          <a:xfrm>
            <a:off x="4809744" y="5303520"/>
            <a:ext cx="192024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32 views</a:t>
            </a:r>
            <a:endParaRPr lang="en-US" sz="1200" dirty="0"/>
          </a:p>
        </p:txBody>
      </p:sp>
      <p:sp>
        <p:nvSpPr>
          <p:cNvPr id="14" name="Text 12"/>
          <p:cNvSpPr/>
          <p:nvPr/>
        </p:nvSpPr>
        <p:spPr>
          <a:xfrm>
            <a:off x="6931152" y="4983480"/>
            <a:ext cx="1920240" cy="329184"/>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6 / 6</a:t>
            </a:r>
            <a:endParaRPr lang="en-US" sz="1900" dirty="0"/>
          </a:p>
        </p:txBody>
      </p:sp>
      <p:sp>
        <p:nvSpPr>
          <p:cNvPr id="15" name="Text 13"/>
          <p:cNvSpPr/>
          <p:nvPr/>
        </p:nvSpPr>
        <p:spPr>
          <a:xfrm>
            <a:off x="6931152" y="5303520"/>
            <a:ext cx="192024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modules built</a:t>
            </a:r>
            <a:endParaRPr lang="en-US" sz="1200" dirty="0"/>
          </a:p>
        </p:txBody>
      </p:sp>
      <p:sp>
        <p:nvSpPr>
          <p:cNvPr id="16" name="Text 14"/>
          <p:cNvSpPr/>
          <p:nvPr/>
        </p:nvSpPr>
        <p:spPr>
          <a:xfrm>
            <a:off x="566928" y="5897880"/>
            <a:ext cx="9144000" cy="274320"/>
          </a:xfrm>
          <a:prstGeom prst="rect">
            <a:avLst/>
          </a:prstGeom>
          <a:noFill/>
          <a:ln/>
        </p:spPr>
        <p:txBody>
          <a:bodyPr wrap="square" lIns="0" tIns="0" rIns="0" bIns="0"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Titania Melody   ·   BC220203981</a:t>
            </a:r>
            <a:endParaRPr lang="en-US" sz="1300" dirty="0"/>
          </a:p>
        </p:txBody>
      </p:sp>
      <p:sp>
        <p:nvSpPr>
          <p:cNvPr id="17" name="Text 15"/>
          <p:cNvSpPr/>
          <p:nvPr/>
        </p:nvSpPr>
        <p:spPr>
          <a:xfrm>
            <a:off x="566928" y="6199632"/>
            <a:ext cx="9144000" cy="27432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Supervisor: Mr. Abdullah Qamar   ·   Virtual University of Pakistan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058400" cy="237744"/>
          </a:xfrm>
          <a:prstGeom prst="rect">
            <a:avLst/>
          </a:prstGeom>
          <a:noFill/>
          <a:ln/>
        </p:spPr>
        <p:txBody>
          <a:bodyPr wrap="square" lIns="0" tIns="0" rIns="0" bIns="0" rtlCol="0" anchor="ctr"/>
          <a:lstStyle/>
          <a:p>
            <a:pPr indent="0" marL="0">
              <a:buNone/>
            </a:pPr>
            <a:r>
              <a:rPr lang="en-US" sz="1200" b="1" spc="200" kern="0" dirty="0">
                <a:solidFill>
                  <a:srgbClr val="0E7490"/>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One platform, six services, one community</a:t>
            </a:r>
            <a:endParaRPr lang="en-US" sz="3200" dirty="0"/>
          </a:p>
        </p:txBody>
      </p:sp>
      <p:sp>
        <p:nvSpPr>
          <p:cNvPr id="4" name="Text 2"/>
          <p:cNvSpPr/>
          <p:nvPr/>
        </p:nvSpPr>
        <p:spPr>
          <a:xfrm>
            <a:off x="566928" y="1600200"/>
            <a:ext cx="5760720" cy="2194560"/>
          </a:xfrm>
          <a:prstGeom prst="rect">
            <a:avLst/>
          </a:prstGeom>
          <a:noFill/>
          <a:ln/>
        </p:spPr>
        <p:txBody>
          <a:bodyPr wrap="square" lIns="0" tIns="0" rIns="0" bIns="0" rtlCol="0" anchor="ctr"/>
          <a:lstStyle/>
          <a:p>
            <a:pPr indent="0" marL="0">
              <a:lnSpc>
                <a:spcPts val="2400"/>
              </a:lnSpc>
              <a:buNone/>
            </a:pPr>
            <a:r>
              <a:rPr lang="en-US" sz="1500" dirty="0">
                <a:solidFill>
                  <a:srgbClr val="1F2933"/>
                </a:solidFill>
                <a:latin typeface="Calibri" pitchFamily="34" charset="0"/>
                <a:ea typeface="Calibri" pitchFamily="34" charset="-122"/>
                <a:cs typeface="Calibri" pitchFamily="34" charset="-120"/>
              </a:rPr>
              <a:t>Students, instructors, researchers and technology professionals currently scatter across a different tool for every need — one site to ask a technical question, another to find an internship, a third to run an event.</a:t>
            </a:r>
            <a:endParaRPr lang="en-US" sz="1500" dirty="0"/>
          </a:p>
          <a:p>
            <a:pPr indent="0" marL="0">
              <a:lnSpc>
                <a:spcPts val="2400"/>
              </a:lnSpc>
              <a:buNone/>
            </a:pPr>
            <a:endParaRPr lang="en-US" sz="1500" dirty="0"/>
          </a:p>
          <a:p>
            <a:pPr indent="0" marL="0">
              <a:lnSpc>
                <a:spcPts val="2400"/>
              </a:lnSpc>
              <a:buNone/>
            </a:pPr>
            <a:r>
              <a:rPr lang="en-US" sz="1500" dirty="0">
                <a:solidFill>
                  <a:srgbClr val="1F2933"/>
                </a:solidFill>
                <a:latin typeface="Calibri" pitchFamily="34" charset="0"/>
                <a:ea typeface="Calibri" pitchFamily="34" charset="-122"/>
                <a:cs typeface="Calibri" pitchFamily="34" charset="-120"/>
              </a:rPr>
              <a:t>AQDesk brings those services into a single digital ecosystem for the emerging-technologies domain, so knowledge, collaboration and opportunity live in the same place.</a:t>
            </a:r>
            <a:endParaRPr lang="en-US" sz="1500" dirty="0"/>
          </a:p>
        </p:txBody>
      </p:sp>
      <p:sp>
        <p:nvSpPr>
          <p:cNvPr id="5" name="Text 3"/>
          <p:cNvSpPr/>
          <p:nvPr/>
        </p:nvSpPr>
        <p:spPr>
          <a:xfrm>
            <a:off x="566928" y="3977640"/>
            <a:ext cx="5760720" cy="822960"/>
          </a:xfrm>
          <a:prstGeom prst="rect">
            <a:avLst/>
          </a:prstGeom>
          <a:noFill/>
          <a:ln/>
        </p:spPr>
        <p:txBody>
          <a:bodyPr wrap="square" lIns="0" tIns="0" rIns="0" bIns="0" rtlCol="0" anchor="ctr"/>
          <a:lstStyle/>
          <a:p>
            <a:pPr indent="0" marL="0">
              <a:buNone/>
            </a:pPr>
            <a:r>
              <a:rPr lang="en-US" sz="1350" i="1" dirty="0">
                <a:solidFill>
                  <a:srgbClr val="64748B"/>
                </a:solidFill>
                <a:latin typeface="Calibri" pitchFamily="34" charset="0"/>
                <a:ea typeface="Calibri" pitchFamily="34" charset="-122"/>
                <a:cs typeface="Calibri" pitchFamily="34" charset="-120"/>
              </a:rPr>
              <a:t>The Main Requirement File specifies seven functional areas. The Prototype Assignment narrows the current phase to six mandatory modules.</a:t>
            </a:r>
            <a:endParaRPr lang="en-US" sz="1350" dirty="0"/>
          </a:p>
        </p:txBody>
      </p:sp>
      <p:sp>
        <p:nvSpPr>
          <p:cNvPr id="6" name="Shape 4"/>
          <p:cNvSpPr/>
          <p:nvPr/>
        </p:nvSpPr>
        <p:spPr>
          <a:xfrm>
            <a:off x="6675120" y="1463040"/>
            <a:ext cx="4937760" cy="3977640"/>
          </a:xfrm>
          <a:prstGeom prst="roundRect">
            <a:avLst>
              <a:gd name="adj" fmla="val 1839"/>
            </a:avLst>
          </a:prstGeom>
          <a:solidFill>
            <a:srgbClr val="F1F5F9"/>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7" name="Text 5"/>
          <p:cNvSpPr/>
          <p:nvPr/>
        </p:nvSpPr>
        <p:spPr>
          <a:xfrm>
            <a:off x="6995160" y="1691640"/>
            <a:ext cx="4297680" cy="274320"/>
          </a:xfrm>
          <a:prstGeom prst="rect">
            <a:avLst/>
          </a:prstGeom>
          <a:noFill/>
          <a:ln/>
        </p:spPr>
        <p:txBody>
          <a:bodyPr wrap="square" lIns="0" tIns="0" rIns="0" bIns="0" rtlCol="0" anchor="ctr"/>
          <a:lstStyle/>
          <a:p>
            <a:pPr indent="0" marL="0">
              <a:buNone/>
            </a:pPr>
            <a:r>
              <a:rPr lang="en-US" sz="1150" b="1" spc="160" kern="0" dirty="0">
                <a:solidFill>
                  <a:srgbClr val="0E7490"/>
                </a:solidFill>
                <a:latin typeface="Calibri" pitchFamily="34" charset="0"/>
                <a:ea typeface="Calibri" pitchFamily="34" charset="-122"/>
                <a:cs typeface="Calibri" pitchFamily="34" charset="-120"/>
              </a:rPr>
              <a:t>WHO IT SERVES</a:t>
            </a:r>
            <a:endParaRPr lang="en-US" sz="1150" dirty="0"/>
          </a:p>
        </p:txBody>
      </p:sp>
      <p:sp>
        <p:nvSpPr>
          <p:cNvPr id="8" name="Shape 6"/>
          <p:cNvSpPr/>
          <p:nvPr/>
        </p:nvSpPr>
        <p:spPr>
          <a:xfrm>
            <a:off x="6995160" y="2148840"/>
            <a:ext cx="384048" cy="384048"/>
          </a:xfrm>
          <a:prstGeom prst="ellipse">
            <a:avLst/>
          </a:prstGeom>
          <a:solidFill>
            <a:srgbClr val="22D3EE"/>
          </a:solidFill>
          <a:ln/>
        </p:spPr>
      </p:sp>
      <p:sp>
        <p:nvSpPr>
          <p:cNvPr id="9" name="Text 7"/>
          <p:cNvSpPr/>
          <p:nvPr/>
        </p:nvSpPr>
        <p:spPr>
          <a:xfrm>
            <a:off x="6995160" y="2148840"/>
            <a:ext cx="384048"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7543800" y="2130552"/>
            <a:ext cx="374904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Students</a:t>
            </a:r>
            <a:endParaRPr lang="en-US" sz="1500" dirty="0"/>
          </a:p>
        </p:txBody>
      </p:sp>
      <p:sp>
        <p:nvSpPr>
          <p:cNvPr id="11" name="Text 9"/>
          <p:cNvSpPr/>
          <p:nvPr/>
        </p:nvSpPr>
        <p:spPr>
          <a:xfrm>
            <a:off x="7543800" y="2395728"/>
            <a:ext cx="3749040" cy="2743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ask, learn, apply</a:t>
            </a:r>
            <a:endParaRPr lang="en-US" sz="1250" dirty="0"/>
          </a:p>
        </p:txBody>
      </p:sp>
      <p:sp>
        <p:nvSpPr>
          <p:cNvPr id="12" name="Shape 10"/>
          <p:cNvSpPr/>
          <p:nvPr/>
        </p:nvSpPr>
        <p:spPr>
          <a:xfrm>
            <a:off x="6995160" y="2990088"/>
            <a:ext cx="384048" cy="384048"/>
          </a:xfrm>
          <a:prstGeom prst="ellipse">
            <a:avLst/>
          </a:prstGeom>
          <a:solidFill>
            <a:srgbClr val="22D3EE"/>
          </a:solidFill>
          <a:ln/>
        </p:spPr>
      </p:sp>
      <p:sp>
        <p:nvSpPr>
          <p:cNvPr id="13" name="Text 11"/>
          <p:cNvSpPr/>
          <p:nvPr/>
        </p:nvSpPr>
        <p:spPr>
          <a:xfrm>
            <a:off x="6995160" y="2990088"/>
            <a:ext cx="384048"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7543800" y="2971800"/>
            <a:ext cx="374904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Instructors &amp; researchers</a:t>
            </a:r>
            <a:endParaRPr lang="en-US" sz="1500" dirty="0"/>
          </a:p>
        </p:txBody>
      </p:sp>
      <p:sp>
        <p:nvSpPr>
          <p:cNvPr id="15" name="Text 13"/>
          <p:cNvSpPr/>
          <p:nvPr/>
        </p:nvSpPr>
        <p:spPr>
          <a:xfrm>
            <a:off x="7543800" y="3236976"/>
            <a:ext cx="3749040" cy="2743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share expertise</a:t>
            </a:r>
            <a:endParaRPr lang="en-US" sz="1250" dirty="0"/>
          </a:p>
        </p:txBody>
      </p:sp>
      <p:sp>
        <p:nvSpPr>
          <p:cNvPr id="16" name="Shape 14"/>
          <p:cNvSpPr/>
          <p:nvPr/>
        </p:nvSpPr>
        <p:spPr>
          <a:xfrm>
            <a:off x="6995160" y="3831336"/>
            <a:ext cx="384048" cy="384048"/>
          </a:xfrm>
          <a:prstGeom prst="ellipse">
            <a:avLst/>
          </a:prstGeom>
          <a:solidFill>
            <a:srgbClr val="22D3EE"/>
          </a:solidFill>
          <a:ln/>
        </p:spPr>
      </p:sp>
      <p:sp>
        <p:nvSpPr>
          <p:cNvPr id="17" name="Text 15"/>
          <p:cNvSpPr/>
          <p:nvPr/>
        </p:nvSpPr>
        <p:spPr>
          <a:xfrm>
            <a:off x="6995160" y="3831336"/>
            <a:ext cx="384048"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7543800" y="3813048"/>
            <a:ext cx="374904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Technology professionals</a:t>
            </a:r>
            <a:endParaRPr lang="en-US" sz="1500" dirty="0"/>
          </a:p>
        </p:txBody>
      </p:sp>
      <p:sp>
        <p:nvSpPr>
          <p:cNvPr id="19" name="Text 17"/>
          <p:cNvSpPr/>
          <p:nvPr/>
        </p:nvSpPr>
        <p:spPr>
          <a:xfrm>
            <a:off x="7543800" y="4078224"/>
            <a:ext cx="3749040" cy="2743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answer, mentor, hire</a:t>
            </a:r>
            <a:endParaRPr lang="en-US" sz="1250" dirty="0"/>
          </a:p>
        </p:txBody>
      </p:sp>
      <p:sp>
        <p:nvSpPr>
          <p:cNvPr id="20" name="Shape 18"/>
          <p:cNvSpPr/>
          <p:nvPr/>
        </p:nvSpPr>
        <p:spPr>
          <a:xfrm>
            <a:off x="6995160" y="4672584"/>
            <a:ext cx="384048" cy="384048"/>
          </a:xfrm>
          <a:prstGeom prst="ellipse">
            <a:avLst/>
          </a:prstGeom>
          <a:solidFill>
            <a:srgbClr val="22D3EE"/>
          </a:solidFill>
          <a:ln/>
        </p:spPr>
      </p:sp>
      <p:sp>
        <p:nvSpPr>
          <p:cNvPr id="21" name="Text 19"/>
          <p:cNvSpPr/>
          <p:nvPr/>
        </p:nvSpPr>
        <p:spPr>
          <a:xfrm>
            <a:off x="6995160" y="4672584"/>
            <a:ext cx="384048"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543800" y="4654296"/>
            <a:ext cx="374904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Organisations</a:t>
            </a:r>
            <a:endParaRPr lang="en-US" sz="1500" dirty="0"/>
          </a:p>
        </p:txBody>
      </p:sp>
      <p:sp>
        <p:nvSpPr>
          <p:cNvPr id="23" name="Text 21"/>
          <p:cNvSpPr/>
          <p:nvPr/>
        </p:nvSpPr>
        <p:spPr>
          <a:xfrm>
            <a:off x="7543800" y="4919472"/>
            <a:ext cx="3749040" cy="274320"/>
          </a:xfrm>
          <a:prstGeom prst="rect">
            <a:avLst/>
          </a:prstGeom>
          <a:noFill/>
          <a:ln/>
        </p:spPr>
        <p:txBody>
          <a:bodyPr wrap="square" lIns="0" tIns="0" rIns="0" bIns="0" rtlCol="0" anchor="ctr"/>
          <a:lstStyle/>
          <a:p>
            <a:pPr indent="0" marL="0">
              <a:buNone/>
            </a:pPr>
            <a:r>
              <a:rPr lang="en-US" sz="1250" dirty="0">
                <a:solidFill>
                  <a:srgbClr val="64748B"/>
                </a:solidFill>
                <a:latin typeface="Calibri" pitchFamily="34" charset="0"/>
                <a:ea typeface="Calibri" pitchFamily="34" charset="-122"/>
                <a:cs typeface="Calibri" pitchFamily="34" charset="-120"/>
              </a:rPr>
              <a:t>post opportunities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058400" cy="237744"/>
          </a:xfrm>
          <a:prstGeom prst="rect">
            <a:avLst/>
          </a:prstGeom>
          <a:noFill/>
          <a:ln/>
        </p:spPr>
        <p:txBody>
          <a:bodyPr wrap="square" lIns="0" tIns="0" rIns="0" bIns="0" rtlCol="0" anchor="ctr"/>
          <a:lstStyle/>
          <a:p>
            <a:pPr indent="0" marL="0">
              <a:buNone/>
            </a:pPr>
            <a:r>
              <a:rPr lang="en-US" sz="1200" b="1" spc="200" kern="0" dirty="0">
                <a:solidFill>
                  <a:srgbClr val="0E7490"/>
                </a:solidFill>
                <a:latin typeface="Calibri" pitchFamily="34" charset="0"/>
                <a:ea typeface="Calibri" pitchFamily="34" charset="-122"/>
                <a:cs typeface="Calibri" pitchFamily="34" charset="-120"/>
              </a:rPr>
              <a:t>SCOPE</a:t>
            </a:r>
            <a:endParaRPr lang="en-US" sz="120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What we committed to build — and what we did not</a:t>
            </a:r>
            <a:endParaRPr lang="en-US" sz="3200" dirty="0"/>
          </a:p>
        </p:txBody>
      </p:sp>
      <p:sp>
        <p:nvSpPr>
          <p:cNvPr id="4" name="Text 2"/>
          <p:cNvSpPr/>
          <p:nvPr/>
        </p:nvSpPr>
        <p:spPr>
          <a:xfrm>
            <a:off x="566928" y="1481328"/>
            <a:ext cx="10515600" cy="32004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Every module below is traced to its source document, so scope decisions are auditable rather than assumed.</a:t>
            </a:r>
            <a:endParaRPr lang="en-US" sz="1400" dirty="0"/>
          </a:p>
        </p:txBody>
      </p:sp>
      <p:sp>
        <p:nvSpPr>
          <p:cNvPr id="5" name="Shape 3"/>
          <p:cNvSpPr/>
          <p:nvPr/>
        </p:nvSpPr>
        <p:spPr>
          <a:xfrm>
            <a:off x="566928" y="1965960"/>
            <a:ext cx="6720840" cy="4023360"/>
          </a:xfrm>
          <a:prstGeom prst="roundRect">
            <a:avLst>
              <a:gd name="adj" fmla="val 1818"/>
            </a:avLst>
          </a:prstGeom>
          <a:solidFill>
            <a:srgbClr val="DCFCE7"/>
          </a:solidFill>
          <a:ln w="12700">
            <a:solidFill>
              <a:srgbClr val="A7DFBF"/>
            </a:solidFill>
            <a:prstDash val="solid"/>
          </a:ln>
          <a:effectLst>
            <a:outerShdw sx="100000" sy="100000" kx="0" ky="0" algn="bl" rotWithShape="0" blurRad="101600" dist="25400" dir="5400000">
              <a:srgbClr val="94A3B8">
                <a:alpha val="28000"/>
              </a:srgbClr>
            </a:outerShdw>
          </a:effectLst>
        </p:spPr>
      </p:sp>
      <p:sp>
        <p:nvSpPr>
          <p:cNvPr id="6" name="Text 4"/>
          <p:cNvSpPr/>
          <p:nvPr/>
        </p:nvSpPr>
        <p:spPr>
          <a:xfrm>
            <a:off x="841248" y="2194560"/>
            <a:ext cx="6217920" cy="274320"/>
          </a:xfrm>
          <a:prstGeom prst="rect">
            <a:avLst/>
          </a:prstGeom>
          <a:noFill/>
          <a:ln/>
        </p:spPr>
        <p:txBody>
          <a:bodyPr wrap="square" lIns="0" tIns="0" rIns="0" bIns="0" rtlCol="0" anchor="ctr"/>
          <a:lstStyle/>
          <a:p>
            <a:pPr indent="0" marL="0">
              <a:buNone/>
            </a:pPr>
            <a:r>
              <a:rPr lang="en-US" sz="1200" b="1" spc="140" kern="0" dirty="0">
                <a:solidFill>
                  <a:srgbClr val="15803D"/>
                </a:solidFill>
                <a:latin typeface="Calibri" pitchFamily="34" charset="0"/>
                <a:ea typeface="Calibri" pitchFamily="34" charset="-122"/>
                <a:cs typeface="Calibri" pitchFamily="34" charset="-120"/>
              </a:rPr>
              <a:t>IMPLEMENTED IN THE PROTOTYPE</a:t>
            </a:r>
            <a:endParaRPr lang="en-US" sz="1200" dirty="0"/>
          </a:p>
        </p:txBody>
      </p:sp>
      <p:sp>
        <p:nvSpPr>
          <p:cNvPr id="7" name="Shape 5"/>
          <p:cNvSpPr/>
          <p:nvPr/>
        </p:nvSpPr>
        <p:spPr>
          <a:xfrm>
            <a:off x="841248" y="2633472"/>
            <a:ext cx="365760" cy="365760"/>
          </a:xfrm>
          <a:prstGeom prst="ellipse">
            <a:avLst/>
          </a:prstGeom>
          <a:solidFill>
            <a:srgbClr val="15803D"/>
          </a:solidFill>
          <a:ln/>
        </p:spPr>
      </p:sp>
      <p:sp>
        <p:nvSpPr>
          <p:cNvPr id="8" name="Text 6"/>
          <p:cNvSpPr/>
          <p:nvPr/>
        </p:nvSpPr>
        <p:spPr>
          <a:xfrm>
            <a:off x="841248" y="2633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316736" y="2606040"/>
            <a:ext cx="2651760" cy="27432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User Authentication</a:t>
            </a:r>
            <a:endParaRPr lang="en-US" sz="1350" dirty="0"/>
          </a:p>
        </p:txBody>
      </p:sp>
      <p:sp>
        <p:nvSpPr>
          <p:cNvPr id="10" name="Text 8"/>
          <p:cNvSpPr/>
          <p:nvPr/>
        </p:nvSpPr>
        <p:spPr>
          <a:xfrm>
            <a:off x="1316736" y="2871216"/>
            <a:ext cx="2651760" cy="237744"/>
          </a:xfrm>
          <a:prstGeom prst="rect">
            <a:avLst/>
          </a:prstGeom>
          <a:noFill/>
          <a:ln/>
        </p:spPr>
        <p:txBody>
          <a:bodyPr wrap="square" lIns="0" tIns="0" rIns="0" bIns="0" rtlCol="0" anchor="ctr"/>
          <a:lstStyle/>
          <a:p>
            <a:pPr indent="0" marL="0">
              <a:buNone/>
            </a:pPr>
            <a:r>
              <a:rPr lang="en-US" sz="1100" dirty="0">
                <a:solidFill>
                  <a:srgbClr val="15803D"/>
                </a:solidFill>
                <a:latin typeface="Calibri" pitchFamily="34" charset="0"/>
                <a:ea typeface="Calibri" pitchFamily="34" charset="-122"/>
                <a:cs typeface="Calibri" pitchFamily="34" charset="-120"/>
              </a:rPr>
              <a:t>FR1</a:t>
            </a:r>
            <a:endParaRPr lang="en-US" sz="1100" dirty="0"/>
          </a:p>
        </p:txBody>
      </p:sp>
      <p:sp>
        <p:nvSpPr>
          <p:cNvPr id="11" name="Shape 9"/>
          <p:cNvSpPr/>
          <p:nvPr/>
        </p:nvSpPr>
        <p:spPr>
          <a:xfrm>
            <a:off x="4041648" y="2633472"/>
            <a:ext cx="365760" cy="365760"/>
          </a:xfrm>
          <a:prstGeom prst="ellipse">
            <a:avLst/>
          </a:prstGeom>
          <a:solidFill>
            <a:srgbClr val="15803D"/>
          </a:solidFill>
          <a:ln/>
        </p:spPr>
      </p:sp>
      <p:sp>
        <p:nvSpPr>
          <p:cNvPr id="12" name="Text 10"/>
          <p:cNvSpPr/>
          <p:nvPr/>
        </p:nvSpPr>
        <p:spPr>
          <a:xfrm>
            <a:off x="4041648" y="2633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4517136" y="2606040"/>
            <a:ext cx="2651760" cy="27432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Role-Based Access</a:t>
            </a:r>
            <a:endParaRPr lang="en-US" sz="1350" dirty="0"/>
          </a:p>
        </p:txBody>
      </p:sp>
      <p:sp>
        <p:nvSpPr>
          <p:cNvPr id="14" name="Text 12"/>
          <p:cNvSpPr/>
          <p:nvPr/>
        </p:nvSpPr>
        <p:spPr>
          <a:xfrm>
            <a:off x="4517136" y="2871216"/>
            <a:ext cx="2651760" cy="237744"/>
          </a:xfrm>
          <a:prstGeom prst="rect">
            <a:avLst/>
          </a:prstGeom>
          <a:noFill/>
          <a:ln/>
        </p:spPr>
        <p:txBody>
          <a:bodyPr wrap="square" lIns="0" tIns="0" rIns="0" bIns="0" rtlCol="0" anchor="ctr"/>
          <a:lstStyle/>
          <a:p>
            <a:pPr indent="0" marL="0">
              <a:buNone/>
            </a:pPr>
            <a:r>
              <a:rPr lang="en-US" sz="1100" dirty="0">
                <a:solidFill>
                  <a:srgbClr val="15803D"/>
                </a:solidFill>
                <a:latin typeface="Calibri" pitchFamily="34" charset="0"/>
                <a:ea typeface="Calibri" pitchFamily="34" charset="-122"/>
                <a:cs typeface="Calibri" pitchFamily="34" charset="-120"/>
              </a:rPr>
              <a:t>FR1</a:t>
            </a:r>
            <a:endParaRPr lang="en-US" sz="1100" dirty="0"/>
          </a:p>
        </p:txBody>
      </p:sp>
      <p:sp>
        <p:nvSpPr>
          <p:cNvPr id="15" name="Shape 13"/>
          <p:cNvSpPr/>
          <p:nvPr/>
        </p:nvSpPr>
        <p:spPr>
          <a:xfrm>
            <a:off x="841248" y="3657600"/>
            <a:ext cx="365760" cy="365760"/>
          </a:xfrm>
          <a:prstGeom prst="ellipse">
            <a:avLst/>
          </a:prstGeom>
          <a:solidFill>
            <a:srgbClr val="15803D"/>
          </a:solidFill>
          <a:ln/>
        </p:spPr>
      </p:sp>
      <p:sp>
        <p:nvSpPr>
          <p:cNvPr id="16" name="Text 14"/>
          <p:cNvSpPr/>
          <p:nvPr/>
        </p:nvSpPr>
        <p:spPr>
          <a:xfrm>
            <a:off x="841248" y="36576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16736" y="3630168"/>
            <a:ext cx="2651760" cy="27432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Dashboard</a:t>
            </a:r>
            <a:endParaRPr lang="en-US" sz="1350" dirty="0"/>
          </a:p>
        </p:txBody>
      </p:sp>
      <p:sp>
        <p:nvSpPr>
          <p:cNvPr id="18" name="Text 16"/>
          <p:cNvSpPr/>
          <p:nvPr/>
        </p:nvSpPr>
        <p:spPr>
          <a:xfrm>
            <a:off x="1316736" y="3895344"/>
            <a:ext cx="2651760" cy="237744"/>
          </a:xfrm>
          <a:prstGeom prst="rect">
            <a:avLst/>
          </a:prstGeom>
          <a:noFill/>
          <a:ln/>
        </p:spPr>
        <p:txBody>
          <a:bodyPr wrap="square" lIns="0" tIns="0" rIns="0" bIns="0" rtlCol="0" anchor="ctr"/>
          <a:lstStyle/>
          <a:p>
            <a:pPr indent="0" marL="0">
              <a:buNone/>
            </a:pPr>
            <a:r>
              <a:rPr lang="en-US" sz="1100" dirty="0">
                <a:solidFill>
                  <a:srgbClr val="15803D"/>
                </a:solidFill>
                <a:latin typeface="Calibri" pitchFamily="34" charset="0"/>
                <a:ea typeface="Calibri" pitchFamily="34" charset="-122"/>
                <a:cs typeface="Calibri" pitchFamily="34" charset="-120"/>
              </a:rPr>
              <a:t>Prototype file</a:t>
            </a:r>
            <a:endParaRPr lang="en-US" sz="1100" dirty="0"/>
          </a:p>
        </p:txBody>
      </p:sp>
      <p:sp>
        <p:nvSpPr>
          <p:cNvPr id="19" name="Shape 17"/>
          <p:cNvSpPr/>
          <p:nvPr/>
        </p:nvSpPr>
        <p:spPr>
          <a:xfrm>
            <a:off x="4041648" y="3657600"/>
            <a:ext cx="365760" cy="365760"/>
          </a:xfrm>
          <a:prstGeom prst="ellipse">
            <a:avLst/>
          </a:prstGeom>
          <a:solidFill>
            <a:srgbClr val="15803D"/>
          </a:solidFill>
          <a:ln/>
        </p:spPr>
      </p:sp>
      <p:sp>
        <p:nvSpPr>
          <p:cNvPr id="20" name="Text 18"/>
          <p:cNvSpPr/>
          <p:nvPr/>
        </p:nvSpPr>
        <p:spPr>
          <a:xfrm>
            <a:off x="4041648" y="36576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4517136" y="3630168"/>
            <a:ext cx="2651760" cy="27432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User Profile</a:t>
            </a:r>
            <a:endParaRPr lang="en-US" sz="1350" dirty="0"/>
          </a:p>
        </p:txBody>
      </p:sp>
      <p:sp>
        <p:nvSpPr>
          <p:cNvPr id="22" name="Text 20"/>
          <p:cNvSpPr/>
          <p:nvPr/>
        </p:nvSpPr>
        <p:spPr>
          <a:xfrm>
            <a:off x="4517136" y="3895344"/>
            <a:ext cx="2651760" cy="237744"/>
          </a:xfrm>
          <a:prstGeom prst="rect">
            <a:avLst/>
          </a:prstGeom>
          <a:noFill/>
          <a:ln/>
        </p:spPr>
        <p:txBody>
          <a:bodyPr wrap="square" lIns="0" tIns="0" rIns="0" bIns="0" rtlCol="0" anchor="ctr"/>
          <a:lstStyle/>
          <a:p>
            <a:pPr indent="0" marL="0">
              <a:buNone/>
            </a:pPr>
            <a:r>
              <a:rPr lang="en-US" sz="1100" dirty="0">
                <a:solidFill>
                  <a:srgbClr val="15803D"/>
                </a:solidFill>
                <a:latin typeface="Calibri" pitchFamily="34" charset="0"/>
                <a:ea typeface="Calibri" pitchFamily="34" charset="-122"/>
                <a:cs typeface="Calibri" pitchFamily="34" charset="-120"/>
              </a:rPr>
              <a:t>FR1</a:t>
            </a:r>
            <a:endParaRPr lang="en-US" sz="1100" dirty="0"/>
          </a:p>
        </p:txBody>
      </p:sp>
      <p:sp>
        <p:nvSpPr>
          <p:cNvPr id="23" name="Shape 21"/>
          <p:cNvSpPr/>
          <p:nvPr/>
        </p:nvSpPr>
        <p:spPr>
          <a:xfrm>
            <a:off x="841248" y="4681728"/>
            <a:ext cx="365760" cy="365760"/>
          </a:xfrm>
          <a:prstGeom prst="ellipse">
            <a:avLst/>
          </a:prstGeom>
          <a:solidFill>
            <a:srgbClr val="15803D"/>
          </a:solidFill>
          <a:ln/>
        </p:spPr>
      </p:sp>
      <p:sp>
        <p:nvSpPr>
          <p:cNvPr id="24" name="Text 22"/>
          <p:cNvSpPr/>
          <p:nvPr/>
        </p:nvSpPr>
        <p:spPr>
          <a:xfrm>
            <a:off x="841248" y="468172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3"/>
          <p:cNvSpPr/>
          <p:nvPr/>
        </p:nvSpPr>
        <p:spPr>
          <a:xfrm>
            <a:off x="1316736" y="4654296"/>
            <a:ext cx="2651760" cy="27432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Community Q&amp;A</a:t>
            </a:r>
            <a:endParaRPr lang="en-US" sz="1350" dirty="0"/>
          </a:p>
        </p:txBody>
      </p:sp>
      <p:sp>
        <p:nvSpPr>
          <p:cNvPr id="26" name="Text 24"/>
          <p:cNvSpPr/>
          <p:nvPr/>
        </p:nvSpPr>
        <p:spPr>
          <a:xfrm>
            <a:off x="1316736" y="4919472"/>
            <a:ext cx="2651760" cy="237744"/>
          </a:xfrm>
          <a:prstGeom prst="rect">
            <a:avLst/>
          </a:prstGeom>
          <a:noFill/>
          <a:ln/>
        </p:spPr>
        <p:txBody>
          <a:bodyPr wrap="square" lIns="0" tIns="0" rIns="0" bIns="0" rtlCol="0" anchor="ctr"/>
          <a:lstStyle/>
          <a:p>
            <a:pPr indent="0" marL="0">
              <a:buNone/>
            </a:pPr>
            <a:r>
              <a:rPr lang="en-US" sz="1100" dirty="0">
                <a:solidFill>
                  <a:srgbClr val="15803D"/>
                </a:solidFill>
                <a:latin typeface="Calibri" pitchFamily="34" charset="0"/>
                <a:ea typeface="Calibri" pitchFamily="34" charset="-122"/>
                <a:cs typeface="Calibri" pitchFamily="34" charset="-120"/>
              </a:rPr>
              <a:t>FR2</a:t>
            </a:r>
            <a:endParaRPr lang="en-US" sz="1100" dirty="0"/>
          </a:p>
        </p:txBody>
      </p:sp>
      <p:sp>
        <p:nvSpPr>
          <p:cNvPr id="27" name="Shape 25"/>
          <p:cNvSpPr/>
          <p:nvPr/>
        </p:nvSpPr>
        <p:spPr>
          <a:xfrm>
            <a:off x="4041648" y="4681728"/>
            <a:ext cx="365760" cy="365760"/>
          </a:xfrm>
          <a:prstGeom prst="ellipse">
            <a:avLst/>
          </a:prstGeom>
          <a:solidFill>
            <a:srgbClr val="15803D"/>
          </a:solidFill>
          <a:ln/>
        </p:spPr>
      </p:sp>
      <p:sp>
        <p:nvSpPr>
          <p:cNvPr id="28" name="Text 26"/>
          <p:cNvSpPr/>
          <p:nvPr/>
        </p:nvSpPr>
        <p:spPr>
          <a:xfrm>
            <a:off x="4041648" y="4681728"/>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9" name="Text 27"/>
          <p:cNvSpPr/>
          <p:nvPr/>
        </p:nvSpPr>
        <p:spPr>
          <a:xfrm>
            <a:off x="4517136" y="4654296"/>
            <a:ext cx="2651760" cy="27432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Jobs &amp; Opportunities</a:t>
            </a:r>
            <a:endParaRPr lang="en-US" sz="1350" dirty="0"/>
          </a:p>
        </p:txBody>
      </p:sp>
      <p:sp>
        <p:nvSpPr>
          <p:cNvPr id="30" name="Text 28"/>
          <p:cNvSpPr/>
          <p:nvPr/>
        </p:nvSpPr>
        <p:spPr>
          <a:xfrm>
            <a:off x="4517136" y="4919472"/>
            <a:ext cx="2651760" cy="237744"/>
          </a:xfrm>
          <a:prstGeom prst="rect">
            <a:avLst/>
          </a:prstGeom>
          <a:noFill/>
          <a:ln/>
        </p:spPr>
        <p:txBody>
          <a:bodyPr wrap="square" lIns="0" tIns="0" rIns="0" bIns="0" rtlCol="0" anchor="ctr"/>
          <a:lstStyle/>
          <a:p>
            <a:pPr indent="0" marL="0">
              <a:buNone/>
            </a:pPr>
            <a:r>
              <a:rPr lang="en-US" sz="1100" dirty="0">
                <a:solidFill>
                  <a:srgbClr val="15803D"/>
                </a:solidFill>
                <a:latin typeface="Calibri" pitchFamily="34" charset="0"/>
                <a:ea typeface="Calibri" pitchFamily="34" charset="-122"/>
                <a:cs typeface="Calibri" pitchFamily="34" charset="-120"/>
              </a:rPr>
              <a:t>FR5</a:t>
            </a:r>
            <a:endParaRPr lang="en-US" sz="1100" dirty="0"/>
          </a:p>
        </p:txBody>
      </p:sp>
      <p:sp>
        <p:nvSpPr>
          <p:cNvPr id="31" name="Shape 29"/>
          <p:cNvSpPr/>
          <p:nvPr/>
        </p:nvSpPr>
        <p:spPr>
          <a:xfrm>
            <a:off x="7571232" y="1965960"/>
            <a:ext cx="4023360" cy="4023360"/>
          </a:xfrm>
          <a:prstGeom prst="roundRect">
            <a:avLst>
              <a:gd name="adj" fmla="val 1818"/>
            </a:avLst>
          </a:prstGeom>
          <a:solidFill>
            <a:srgbClr val="F1F5F9"/>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32" name="Text 30"/>
          <p:cNvSpPr/>
          <p:nvPr/>
        </p:nvSpPr>
        <p:spPr>
          <a:xfrm>
            <a:off x="7845552" y="2194560"/>
            <a:ext cx="3566160" cy="274320"/>
          </a:xfrm>
          <a:prstGeom prst="rect">
            <a:avLst/>
          </a:prstGeom>
          <a:noFill/>
          <a:ln/>
        </p:spPr>
        <p:txBody>
          <a:bodyPr wrap="square" lIns="0" tIns="0" rIns="0" bIns="0" rtlCol="0" anchor="ctr"/>
          <a:lstStyle/>
          <a:p>
            <a:pPr indent="0" marL="0">
              <a:buNone/>
            </a:pPr>
            <a:r>
              <a:rPr lang="en-US" sz="1200" b="1" spc="140" kern="0" dirty="0">
                <a:solidFill>
                  <a:srgbClr val="64748B"/>
                </a:solidFill>
                <a:latin typeface="Calibri" pitchFamily="34" charset="0"/>
                <a:ea typeface="Calibri" pitchFamily="34" charset="-122"/>
                <a:cs typeface="Calibri" pitchFamily="34" charset="-120"/>
              </a:rPr>
              <a:t>DEFERRED TO THE FINAL PROJECT</a:t>
            </a:r>
            <a:endParaRPr lang="en-US" sz="1200" dirty="0"/>
          </a:p>
        </p:txBody>
      </p:sp>
      <p:sp>
        <p:nvSpPr>
          <p:cNvPr id="33" name="Shape 31"/>
          <p:cNvSpPr/>
          <p:nvPr/>
        </p:nvSpPr>
        <p:spPr>
          <a:xfrm>
            <a:off x="7845552" y="2670048"/>
            <a:ext cx="3493008" cy="603504"/>
          </a:xfrm>
          <a:prstGeom prst="roundRect">
            <a:avLst>
              <a:gd name="adj" fmla="val 9091"/>
            </a:avLst>
          </a:prstGeom>
          <a:solidFill>
            <a:srgbClr val="FFFFFF"/>
          </a:solidFill>
          <a:ln w="12700">
            <a:solidFill>
              <a:srgbClr val="CBD5E1"/>
            </a:solidFill>
            <a:prstDash val="dash"/>
          </a:ln>
        </p:spPr>
      </p:sp>
      <p:sp>
        <p:nvSpPr>
          <p:cNvPr id="34" name="Text 32"/>
          <p:cNvSpPr/>
          <p:nvPr/>
        </p:nvSpPr>
        <p:spPr>
          <a:xfrm>
            <a:off x="8028432" y="2724912"/>
            <a:ext cx="3108960" cy="256032"/>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Project Collaboration</a:t>
            </a:r>
            <a:endParaRPr lang="en-US" sz="1300" dirty="0"/>
          </a:p>
        </p:txBody>
      </p:sp>
      <p:sp>
        <p:nvSpPr>
          <p:cNvPr id="35" name="Text 33"/>
          <p:cNvSpPr/>
          <p:nvPr/>
        </p:nvSpPr>
        <p:spPr>
          <a:xfrm>
            <a:off x="8028432" y="2980944"/>
            <a:ext cx="3108960" cy="21945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FR3</a:t>
            </a:r>
            <a:endParaRPr lang="en-US" sz="1050" dirty="0"/>
          </a:p>
        </p:txBody>
      </p:sp>
      <p:sp>
        <p:nvSpPr>
          <p:cNvPr id="36" name="Shape 34"/>
          <p:cNvSpPr/>
          <p:nvPr/>
        </p:nvSpPr>
        <p:spPr>
          <a:xfrm>
            <a:off x="7845552" y="3447288"/>
            <a:ext cx="3493008" cy="603504"/>
          </a:xfrm>
          <a:prstGeom prst="roundRect">
            <a:avLst>
              <a:gd name="adj" fmla="val 9091"/>
            </a:avLst>
          </a:prstGeom>
          <a:solidFill>
            <a:srgbClr val="FFFFFF"/>
          </a:solidFill>
          <a:ln w="12700">
            <a:solidFill>
              <a:srgbClr val="CBD5E1"/>
            </a:solidFill>
            <a:prstDash val="dash"/>
          </a:ln>
        </p:spPr>
      </p:sp>
      <p:sp>
        <p:nvSpPr>
          <p:cNvPr id="37" name="Text 35"/>
          <p:cNvSpPr/>
          <p:nvPr/>
        </p:nvSpPr>
        <p:spPr>
          <a:xfrm>
            <a:off x="8028432" y="3502152"/>
            <a:ext cx="3108960" cy="256032"/>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Events &amp; Podcasts</a:t>
            </a:r>
            <a:endParaRPr lang="en-US" sz="1300" dirty="0"/>
          </a:p>
        </p:txBody>
      </p:sp>
      <p:sp>
        <p:nvSpPr>
          <p:cNvPr id="38" name="Text 36"/>
          <p:cNvSpPr/>
          <p:nvPr/>
        </p:nvSpPr>
        <p:spPr>
          <a:xfrm>
            <a:off x="8028432" y="3758184"/>
            <a:ext cx="3108960" cy="21945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FR4</a:t>
            </a:r>
            <a:endParaRPr lang="en-US" sz="1050" dirty="0"/>
          </a:p>
        </p:txBody>
      </p:sp>
      <p:sp>
        <p:nvSpPr>
          <p:cNvPr id="39" name="Shape 37"/>
          <p:cNvSpPr/>
          <p:nvPr/>
        </p:nvSpPr>
        <p:spPr>
          <a:xfrm>
            <a:off x="7845552" y="4224528"/>
            <a:ext cx="3493008" cy="603504"/>
          </a:xfrm>
          <a:prstGeom prst="roundRect">
            <a:avLst>
              <a:gd name="adj" fmla="val 9091"/>
            </a:avLst>
          </a:prstGeom>
          <a:solidFill>
            <a:srgbClr val="FFFFFF"/>
          </a:solidFill>
          <a:ln w="12700">
            <a:solidFill>
              <a:srgbClr val="CBD5E1"/>
            </a:solidFill>
            <a:prstDash val="dash"/>
          </a:ln>
        </p:spPr>
      </p:sp>
      <p:sp>
        <p:nvSpPr>
          <p:cNvPr id="40" name="Text 38"/>
          <p:cNvSpPr/>
          <p:nvPr/>
        </p:nvSpPr>
        <p:spPr>
          <a:xfrm>
            <a:off x="8028432" y="4279392"/>
            <a:ext cx="3108960" cy="256032"/>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Consulting Management</a:t>
            </a:r>
            <a:endParaRPr lang="en-US" sz="1300" dirty="0"/>
          </a:p>
        </p:txBody>
      </p:sp>
      <p:sp>
        <p:nvSpPr>
          <p:cNvPr id="41" name="Text 39"/>
          <p:cNvSpPr/>
          <p:nvPr/>
        </p:nvSpPr>
        <p:spPr>
          <a:xfrm>
            <a:off x="8028432" y="4535424"/>
            <a:ext cx="3108960" cy="21945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FR6</a:t>
            </a:r>
            <a:endParaRPr lang="en-US" sz="1050" dirty="0"/>
          </a:p>
        </p:txBody>
      </p:sp>
      <p:sp>
        <p:nvSpPr>
          <p:cNvPr id="42" name="Shape 40"/>
          <p:cNvSpPr/>
          <p:nvPr/>
        </p:nvSpPr>
        <p:spPr>
          <a:xfrm>
            <a:off x="7845552" y="5001768"/>
            <a:ext cx="3493008" cy="603504"/>
          </a:xfrm>
          <a:prstGeom prst="roundRect">
            <a:avLst>
              <a:gd name="adj" fmla="val 9091"/>
            </a:avLst>
          </a:prstGeom>
          <a:solidFill>
            <a:srgbClr val="FFFFFF"/>
          </a:solidFill>
          <a:ln w="12700">
            <a:solidFill>
              <a:srgbClr val="CBD5E1"/>
            </a:solidFill>
            <a:prstDash val="dash"/>
          </a:ln>
        </p:spPr>
      </p:sp>
      <p:sp>
        <p:nvSpPr>
          <p:cNvPr id="43" name="Text 41"/>
          <p:cNvSpPr/>
          <p:nvPr/>
        </p:nvSpPr>
        <p:spPr>
          <a:xfrm>
            <a:off x="8028432" y="5056632"/>
            <a:ext cx="3108960" cy="256032"/>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Newsletter &amp; Announcements</a:t>
            </a:r>
            <a:endParaRPr lang="en-US" sz="1300" dirty="0"/>
          </a:p>
        </p:txBody>
      </p:sp>
      <p:sp>
        <p:nvSpPr>
          <p:cNvPr id="44" name="Text 42"/>
          <p:cNvSpPr/>
          <p:nvPr/>
        </p:nvSpPr>
        <p:spPr>
          <a:xfrm>
            <a:off x="8028432" y="5312664"/>
            <a:ext cx="3108960" cy="21945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FR7</a:t>
            </a:r>
            <a:endParaRPr lang="en-US" sz="1050" dirty="0"/>
          </a:p>
        </p:txBody>
      </p:sp>
      <p:sp>
        <p:nvSpPr>
          <p:cNvPr id="45" name="Text 43"/>
          <p:cNvSpPr/>
          <p:nvPr/>
        </p:nvSpPr>
        <p:spPr>
          <a:xfrm>
            <a:off x="566928" y="6144768"/>
            <a:ext cx="11027664" cy="32004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Deferred modules still ship as labelled placeholder pages in the running application — the full scope stays visible, and the architecture already accommodates them.</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058400" cy="237744"/>
          </a:xfrm>
          <a:prstGeom prst="rect">
            <a:avLst/>
          </a:prstGeom>
          <a:noFill/>
          <a:ln/>
        </p:spPr>
        <p:txBody>
          <a:bodyPr wrap="square" lIns="0" tIns="0" rIns="0" bIns="0" rtlCol="0" anchor="ctr"/>
          <a:lstStyle/>
          <a:p>
            <a:pPr indent="0" marL="0">
              <a:buNone/>
            </a:pPr>
            <a:r>
              <a:rPr lang="en-US" sz="1200" b="1" spc="200" kern="0" dirty="0">
                <a:solidFill>
                  <a:srgbClr val="0E7490"/>
                </a:solidFill>
                <a:latin typeface="Calibri" pitchFamily="34" charset="0"/>
                <a:ea typeface="Calibri" pitchFamily="34" charset="-122"/>
                <a:cs typeface="Calibri" pitchFamily="34" charset="-120"/>
              </a:rPr>
              <a:t>THE BUILD</a:t>
            </a:r>
            <a:endParaRPr lang="en-US" sz="120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Six modules, working end to end</a:t>
            </a:r>
            <a:endParaRPr lang="en-US" sz="3200" dirty="0"/>
          </a:p>
        </p:txBody>
      </p:sp>
      <p:sp>
        <p:nvSpPr>
          <p:cNvPr id="4" name="Shape 2"/>
          <p:cNvSpPr/>
          <p:nvPr/>
        </p:nvSpPr>
        <p:spPr>
          <a:xfrm>
            <a:off x="566928" y="1691640"/>
            <a:ext cx="3493008" cy="1938528"/>
          </a:xfrm>
          <a:prstGeom prst="roundRect">
            <a:avLst>
              <a:gd name="adj" fmla="val 377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5" name="Shape 3"/>
          <p:cNvSpPr/>
          <p:nvPr/>
        </p:nvSpPr>
        <p:spPr>
          <a:xfrm>
            <a:off x="822960" y="1947672"/>
            <a:ext cx="457200" cy="457200"/>
          </a:xfrm>
          <a:prstGeom prst="ellipse">
            <a:avLst/>
          </a:prstGeom>
          <a:solidFill>
            <a:srgbClr val="22D3EE"/>
          </a:solidFill>
          <a:ln/>
        </p:spPr>
      </p:sp>
      <p:sp>
        <p:nvSpPr>
          <p:cNvPr id="6" name="Text 4"/>
          <p:cNvSpPr/>
          <p:nvPr/>
        </p:nvSpPr>
        <p:spPr>
          <a:xfrm>
            <a:off x="822960" y="1947672"/>
            <a:ext cx="4572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89888" y="1965960"/>
            <a:ext cx="2560320" cy="4114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Authentication</a:t>
            </a:r>
            <a:endParaRPr lang="en-US" sz="1600" dirty="0"/>
          </a:p>
        </p:txBody>
      </p:sp>
      <p:sp>
        <p:nvSpPr>
          <p:cNvPr id="8" name="Text 6"/>
          <p:cNvSpPr/>
          <p:nvPr/>
        </p:nvSpPr>
        <p:spPr>
          <a:xfrm>
            <a:off x="822960" y="2560320"/>
            <a:ext cx="2999232" cy="914400"/>
          </a:xfrm>
          <a:prstGeom prst="rect">
            <a:avLst/>
          </a:prstGeom>
          <a:noFill/>
          <a:ln/>
        </p:spPr>
        <p:txBody>
          <a:bodyPr wrap="square" lIns="0" tIns="0" rIns="0" bIns="0" rtlCol="0" anchor="ctr"/>
          <a:lstStyle/>
          <a:p>
            <a:pPr indent="0" marL="0">
              <a:lnSpc>
                <a:spcPts val="1700"/>
              </a:lnSpc>
              <a:buNone/>
            </a:pPr>
            <a:r>
              <a:rPr lang="en-US" sz="1250" dirty="0">
                <a:solidFill>
                  <a:srgbClr val="475569"/>
                </a:solidFill>
                <a:latin typeface="Calibri" pitchFamily="34" charset="0"/>
                <a:ea typeface="Calibri" pitchFamily="34" charset="-122"/>
                <a:cs typeface="Calibri" pitchFamily="34" charset="-120"/>
              </a:rPr>
              <a:t>Register · bcrypt login · sessions · CSRF · deactivation guard</a:t>
            </a:r>
            <a:endParaRPr lang="en-US" sz="1250" dirty="0"/>
          </a:p>
        </p:txBody>
      </p:sp>
      <p:sp>
        <p:nvSpPr>
          <p:cNvPr id="9" name="Shape 7"/>
          <p:cNvSpPr/>
          <p:nvPr/>
        </p:nvSpPr>
        <p:spPr>
          <a:xfrm>
            <a:off x="4279392" y="1691640"/>
            <a:ext cx="3493008" cy="1938528"/>
          </a:xfrm>
          <a:prstGeom prst="roundRect">
            <a:avLst>
              <a:gd name="adj" fmla="val 377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0" name="Shape 8"/>
          <p:cNvSpPr/>
          <p:nvPr/>
        </p:nvSpPr>
        <p:spPr>
          <a:xfrm>
            <a:off x="4535424" y="1947672"/>
            <a:ext cx="457200" cy="457200"/>
          </a:xfrm>
          <a:prstGeom prst="ellipse">
            <a:avLst/>
          </a:prstGeom>
          <a:solidFill>
            <a:srgbClr val="22D3EE"/>
          </a:solidFill>
          <a:ln/>
        </p:spPr>
      </p:sp>
      <p:sp>
        <p:nvSpPr>
          <p:cNvPr id="11" name="Text 9"/>
          <p:cNvSpPr/>
          <p:nvPr/>
        </p:nvSpPr>
        <p:spPr>
          <a:xfrm>
            <a:off x="4535424" y="1947672"/>
            <a:ext cx="4572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5102352" y="1965960"/>
            <a:ext cx="2560320" cy="4114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Role-Based Access</a:t>
            </a:r>
            <a:endParaRPr lang="en-US" sz="1600" dirty="0"/>
          </a:p>
        </p:txBody>
      </p:sp>
      <p:sp>
        <p:nvSpPr>
          <p:cNvPr id="13" name="Text 11"/>
          <p:cNvSpPr/>
          <p:nvPr/>
        </p:nvSpPr>
        <p:spPr>
          <a:xfrm>
            <a:off x="4535424" y="2560320"/>
            <a:ext cx="2999232" cy="914400"/>
          </a:xfrm>
          <a:prstGeom prst="rect">
            <a:avLst/>
          </a:prstGeom>
          <a:noFill/>
          <a:ln/>
        </p:spPr>
        <p:txBody>
          <a:bodyPr wrap="square" lIns="0" tIns="0" rIns="0" bIns="0" rtlCol="0" anchor="ctr"/>
          <a:lstStyle/>
          <a:p>
            <a:pPr indent="0" marL="0">
              <a:lnSpc>
                <a:spcPts val="1700"/>
              </a:lnSpc>
              <a:buNone/>
            </a:pPr>
            <a:r>
              <a:rPr lang="en-US" sz="1250" dirty="0">
                <a:solidFill>
                  <a:srgbClr val="475569"/>
                </a:solidFill>
                <a:latin typeface="Calibri" pitchFamily="34" charset="0"/>
                <a:ea typeface="Calibri" pitchFamily="34" charset="-122"/>
                <a:cs typeface="Calibri" pitchFamily="34" charset="-120"/>
              </a:rPr>
              <a:t>Admin · Expert · Member. Middleware, ownership checks, conditional UI</a:t>
            </a:r>
            <a:endParaRPr lang="en-US" sz="1250" dirty="0"/>
          </a:p>
        </p:txBody>
      </p:sp>
      <p:sp>
        <p:nvSpPr>
          <p:cNvPr id="14" name="Shape 12"/>
          <p:cNvSpPr/>
          <p:nvPr/>
        </p:nvSpPr>
        <p:spPr>
          <a:xfrm>
            <a:off x="7991856" y="1691640"/>
            <a:ext cx="3493008" cy="1938528"/>
          </a:xfrm>
          <a:prstGeom prst="roundRect">
            <a:avLst>
              <a:gd name="adj" fmla="val 377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5" name="Shape 13"/>
          <p:cNvSpPr/>
          <p:nvPr/>
        </p:nvSpPr>
        <p:spPr>
          <a:xfrm>
            <a:off x="8247888" y="1947672"/>
            <a:ext cx="457200" cy="457200"/>
          </a:xfrm>
          <a:prstGeom prst="ellipse">
            <a:avLst/>
          </a:prstGeom>
          <a:solidFill>
            <a:srgbClr val="22D3EE"/>
          </a:solidFill>
          <a:ln/>
        </p:spPr>
      </p:sp>
      <p:sp>
        <p:nvSpPr>
          <p:cNvPr id="16" name="Text 14"/>
          <p:cNvSpPr/>
          <p:nvPr/>
        </p:nvSpPr>
        <p:spPr>
          <a:xfrm>
            <a:off x="8247888" y="1947672"/>
            <a:ext cx="4572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8814816" y="1965960"/>
            <a:ext cx="2560320" cy="4114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Dashboard</a:t>
            </a:r>
            <a:endParaRPr lang="en-US" sz="1600" dirty="0"/>
          </a:p>
        </p:txBody>
      </p:sp>
      <p:sp>
        <p:nvSpPr>
          <p:cNvPr id="18" name="Text 16"/>
          <p:cNvSpPr/>
          <p:nvPr/>
        </p:nvSpPr>
        <p:spPr>
          <a:xfrm>
            <a:off x="8247888" y="2560320"/>
            <a:ext cx="2999232" cy="914400"/>
          </a:xfrm>
          <a:prstGeom prst="rect">
            <a:avLst/>
          </a:prstGeom>
          <a:noFill/>
          <a:ln/>
        </p:spPr>
        <p:txBody>
          <a:bodyPr wrap="square" lIns="0" tIns="0" rIns="0" bIns="0" rtlCol="0" anchor="ctr"/>
          <a:lstStyle/>
          <a:p>
            <a:pPr indent="0" marL="0">
              <a:lnSpc>
                <a:spcPts val="1700"/>
              </a:lnSpc>
              <a:buNone/>
            </a:pPr>
            <a:r>
              <a:rPr lang="en-US" sz="1250" dirty="0">
                <a:solidFill>
                  <a:srgbClr val="475569"/>
                </a:solidFill>
                <a:latin typeface="Calibri" pitchFamily="34" charset="0"/>
                <a:ea typeface="Calibri" pitchFamily="34" charset="-122"/>
                <a:cs typeface="Calibri" pitchFamily="34" charset="-120"/>
              </a:rPr>
              <a:t>Role-aware statistics and quick actions — three roles, three pages</a:t>
            </a:r>
            <a:endParaRPr lang="en-US" sz="1250" dirty="0"/>
          </a:p>
        </p:txBody>
      </p:sp>
      <p:sp>
        <p:nvSpPr>
          <p:cNvPr id="19" name="Shape 17"/>
          <p:cNvSpPr/>
          <p:nvPr/>
        </p:nvSpPr>
        <p:spPr>
          <a:xfrm>
            <a:off x="566928" y="3904488"/>
            <a:ext cx="3493008" cy="1938528"/>
          </a:xfrm>
          <a:prstGeom prst="roundRect">
            <a:avLst>
              <a:gd name="adj" fmla="val 377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20" name="Shape 18"/>
          <p:cNvSpPr/>
          <p:nvPr/>
        </p:nvSpPr>
        <p:spPr>
          <a:xfrm>
            <a:off x="822960" y="4160520"/>
            <a:ext cx="457200" cy="457200"/>
          </a:xfrm>
          <a:prstGeom prst="ellipse">
            <a:avLst/>
          </a:prstGeom>
          <a:solidFill>
            <a:srgbClr val="22D3EE"/>
          </a:solidFill>
          <a:ln/>
        </p:spPr>
      </p:sp>
      <p:sp>
        <p:nvSpPr>
          <p:cNvPr id="21" name="Text 19"/>
          <p:cNvSpPr/>
          <p:nvPr/>
        </p:nvSpPr>
        <p:spPr>
          <a:xfrm>
            <a:off x="822960" y="4160520"/>
            <a:ext cx="4572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389888" y="4178808"/>
            <a:ext cx="2560320" cy="4114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User Profile</a:t>
            </a:r>
            <a:endParaRPr lang="en-US" sz="1600" dirty="0"/>
          </a:p>
        </p:txBody>
      </p:sp>
      <p:sp>
        <p:nvSpPr>
          <p:cNvPr id="23" name="Text 21"/>
          <p:cNvSpPr/>
          <p:nvPr/>
        </p:nvSpPr>
        <p:spPr>
          <a:xfrm>
            <a:off x="822960" y="4773168"/>
            <a:ext cx="2999232" cy="914400"/>
          </a:xfrm>
          <a:prstGeom prst="rect">
            <a:avLst/>
          </a:prstGeom>
          <a:noFill/>
          <a:ln/>
        </p:spPr>
        <p:txBody>
          <a:bodyPr wrap="square" lIns="0" tIns="0" rIns="0" bIns="0" rtlCol="0" anchor="ctr"/>
          <a:lstStyle/>
          <a:p>
            <a:pPr indent="0" marL="0">
              <a:lnSpc>
                <a:spcPts val="1700"/>
              </a:lnSpc>
              <a:buNone/>
            </a:pPr>
            <a:r>
              <a:rPr lang="en-US" sz="1250" dirty="0">
                <a:solidFill>
                  <a:srgbClr val="475569"/>
                </a:solidFill>
                <a:latin typeface="Calibri" pitchFamily="34" charset="0"/>
                <a:ea typeface="Calibri" pitchFamily="34" charset="-122"/>
                <a:cs typeface="Calibri" pitchFamily="34" charset="-120"/>
              </a:rPr>
              <a:t>Public profile · avatar upload · skills · password change</a:t>
            </a:r>
            <a:endParaRPr lang="en-US" sz="1250" dirty="0"/>
          </a:p>
        </p:txBody>
      </p:sp>
      <p:sp>
        <p:nvSpPr>
          <p:cNvPr id="24" name="Shape 22"/>
          <p:cNvSpPr/>
          <p:nvPr/>
        </p:nvSpPr>
        <p:spPr>
          <a:xfrm>
            <a:off x="4279392" y="3904488"/>
            <a:ext cx="3493008" cy="1938528"/>
          </a:xfrm>
          <a:prstGeom prst="roundRect">
            <a:avLst>
              <a:gd name="adj" fmla="val 377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25" name="Shape 23"/>
          <p:cNvSpPr/>
          <p:nvPr/>
        </p:nvSpPr>
        <p:spPr>
          <a:xfrm>
            <a:off x="4535424" y="4160520"/>
            <a:ext cx="457200" cy="457200"/>
          </a:xfrm>
          <a:prstGeom prst="ellipse">
            <a:avLst/>
          </a:prstGeom>
          <a:solidFill>
            <a:srgbClr val="22D3EE"/>
          </a:solidFill>
          <a:ln/>
        </p:spPr>
      </p:sp>
      <p:sp>
        <p:nvSpPr>
          <p:cNvPr id="26" name="Text 24"/>
          <p:cNvSpPr/>
          <p:nvPr/>
        </p:nvSpPr>
        <p:spPr>
          <a:xfrm>
            <a:off x="4535424" y="4160520"/>
            <a:ext cx="4572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5102352" y="4178808"/>
            <a:ext cx="2560320" cy="4114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Community Q&amp;A</a:t>
            </a:r>
            <a:endParaRPr lang="en-US" sz="1600" dirty="0"/>
          </a:p>
        </p:txBody>
      </p:sp>
      <p:sp>
        <p:nvSpPr>
          <p:cNvPr id="28" name="Text 26"/>
          <p:cNvSpPr/>
          <p:nvPr/>
        </p:nvSpPr>
        <p:spPr>
          <a:xfrm>
            <a:off x="4535424" y="4773168"/>
            <a:ext cx="2999232" cy="914400"/>
          </a:xfrm>
          <a:prstGeom prst="rect">
            <a:avLst/>
          </a:prstGeom>
          <a:noFill/>
          <a:ln/>
        </p:spPr>
        <p:txBody>
          <a:bodyPr wrap="square" lIns="0" tIns="0" rIns="0" bIns="0" rtlCol="0" anchor="ctr"/>
          <a:lstStyle/>
          <a:p>
            <a:pPr indent="0" marL="0">
              <a:lnSpc>
                <a:spcPts val="1700"/>
              </a:lnSpc>
              <a:buNone/>
            </a:pPr>
            <a:r>
              <a:rPr lang="en-US" sz="1250" dirty="0">
                <a:solidFill>
                  <a:srgbClr val="475569"/>
                </a:solidFill>
                <a:latin typeface="Calibri" pitchFamily="34" charset="0"/>
                <a:ea typeface="Calibri" pitchFamily="34" charset="-122"/>
                <a:cs typeface="Calibri" pitchFamily="34" charset="-120"/>
              </a:rPr>
              <a:t>Ask · answer · vote · tag · 4 categories · search · accept answer</a:t>
            </a:r>
            <a:endParaRPr lang="en-US" sz="1250" dirty="0"/>
          </a:p>
        </p:txBody>
      </p:sp>
      <p:sp>
        <p:nvSpPr>
          <p:cNvPr id="29" name="Shape 27"/>
          <p:cNvSpPr/>
          <p:nvPr/>
        </p:nvSpPr>
        <p:spPr>
          <a:xfrm>
            <a:off x="7991856" y="3904488"/>
            <a:ext cx="3493008" cy="1938528"/>
          </a:xfrm>
          <a:prstGeom prst="roundRect">
            <a:avLst>
              <a:gd name="adj" fmla="val 377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30" name="Shape 28"/>
          <p:cNvSpPr/>
          <p:nvPr/>
        </p:nvSpPr>
        <p:spPr>
          <a:xfrm>
            <a:off x="8247888" y="4160520"/>
            <a:ext cx="457200" cy="457200"/>
          </a:xfrm>
          <a:prstGeom prst="ellipse">
            <a:avLst/>
          </a:prstGeom>
          <a:solidFill>
            <a:srgbClr val="22D3EE"/>
          </a:solidFill>
          <a:ln/>
        </p:spPr>
      </p:sp>
      <p:sp>
        <p:nvSpPr>
          <p:cNvPr id="31" name="Text 29"/>
          <p:cNvSpPr/>
          <p:nvPr/>
        </p:nvSpPr>
        <p:spPr>
          <a:xfrm>
            <a:off x="8247888" y="4160520"/>
            <a:ext cx="4572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8814816" y="4178808"/>
            <a:ext cx="2560320" cy="4114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Jobs &amp; Opportunities</a:t>
            </a:r>
            <a:endParaRPr lang="en-US" sz="1600" dirty="0"/>
          </a:p>
        </p:txBody>
      </p:sp>
      <p:sp>
        <p:nvSpPr>
          <p:cNvPr id="33" name="Text 31"/>
          <p:cNvSpPr/>
          <p:nvPr/>
        </p:nvSpPr>
        <p:spPr>
          <a:xfrm>
            <a:off x="8247888" y="4773168"/>
            <a:ext cx="2999232" cy="914400"/>
          </a:xfrm>
          <a:prstGeom prst="rect">
            <a:avLst/>
          </a:prstGeom>
          <a:noFill/>
          <a:ln/>
        </p:spPr>
        <p:txBody>
          <a:bodyPr wrap="square" lIns="0" tIns="0" rIns="0" bIns="0" rtlCol="0" anchor="ctr"/>
          <a:lstStyle/>
          <a:p>
            <a:pPr indent="0" marL="0">
              <a:lnSpc>
                <a:spcPts val="1700"/>
              </a:lnSpc>
              <a:buNone/>
            </a:pPr>
            <a:r>
              <a:rPr lang="en-US" sz="1250" dirty="0">
                <a:solidFill>
                  <a:srgbClr val="475569"/>
                </a:solidFill>
                <a:latin typeface="Calibri" pitchFamily="34" charset="0"/>
                <a:ea typeface="Calibri" pitchFamily="34" charset="-122"/>
                <a:cs typeface="Calibri" pitchFamily="34" charset="-120"/>
              </a:rPr>
              <a:t>Post · filter · apply with CV · applicant pipeline</a:t>
            </a:r>
            <a:endParaRPr lang="en-US" sz="1250" dirty="0"/>
          </a:p>
        </p:txBody>
      </p:sp>
      <p:sp>
        <p:nvSpPr>
          <p:cNvPr id="34" name="Text 32"/>
          <p:cNvSpPr/>
          <p:nvPr/>
        </p:nvSpPr>
        <p:spPr>
          <a:xfrm>
            <a:off x="566928" y="6263640"/>
            <a:ext cx="10972800" cy="274320"/>
          </a:xfrm>
          <a:prstGeom prst="rect">
            <a:avLst/>
          </a:prstGeom>
          <a:noFill/>
          <a:ln/>
        </p:spPr>
        <p:txBody>
          <a:bodyPr wrap="square" lIns="0" tIns="0" rIns="0" bIns="0" rtlCol="0" anchor="ctr"/>
          <a:lstStyle/>
          <a:p>
            <a:pPr indent="0" marL="0">
              <a:buNone/>
            </a:pPr>
            <a:r>
              <a:rPr lang="en-US" sz="1300" i="1" dirty="0">
                <a:solidFill>
                  <a:srgbClr val="0E7490"/>
                </a:solidFill>
                <a:latin typeface="Calibri" pitchFamily="34" charset="0"/>
                <a:ea typeface="Calibri" pitchFamily="34" charset="-122"/>
                <a:cs typeface="Calibri" pitchFamily="34" charset="-120"/>
              </a:rPr>
              <a:t>All six run against a live MySQL database — no mock data, no static screens.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058400" cy="237744"/>
          </a:xfrm>
          <a:prstGeom prst="rect">
            <a:avLst/>
          </a:prstGeom>
          <a:noFill/>
          <a:ln/>
        </p:spPr>
        <p:txBody>
          <a:bodyPr wrap="square" lIns="0" tIns="0" rIns="0" bIns="0" rtlCol="0" anchor="ctr"/>
          <a:lstStyle/>
          <a:p>
            <a:pPr indent="0" marL="0">
              <a:buNone/>
            </a:pPr>
            <a:r>
              <a:rPr lang="en-US" sz="1200" b="1" spc="200" kern="0" dirty="0">
                <a:solidFill>
                  <a:srgbClr val="0E7490"/>
                </a:solidFill>
                <a:latin typeface="Calibri" pitchFamily="34" charset="0"/>
                <a:ea typeface="Calibri" pitchFamily="34" charset="-122"/>
                <a:cs typeface="Calibri" pitchFamily="34" charset="-120"/>
              </a:rPr>
              <a:t>MODULES 1 &amp; 2</a:t>
            </a:r>
            <a:endParaRPr lang="en-US" sz="120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Authorisation as a design, not a pile of if-statements</a:t>
            </a:r>
            <a:endParaRPr lang="en-US" sz="3200" dirty="0"/>
          </a:p>
        </p:txBody>
      </p:sp>
      <p:sp>
        <p:nvSpPr>
          <p:cNvPr id="4" name="Shape 2"/>
          <p:cNvSpPr/>
          <p:nvPr/>
        </p:nvSpPr>
        <p:spPr>
          <a:xfrm>
            <a:off x="566928" y="1645920"/>
            <a:ext cx="5943600" cy="896112"/>
          </a:xfrm>
          <a:prstGeom prst="roundRect">
            <a:avLst>
              <a:gd name="adj" fmla="val 8163"/>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5" name="Shape 3"/>
          <p:cNvSpPr/>
          <p:nvPr/>
        </p:nvSpPr>
        <p:spPr>
          <a:xfrm>
            <a:off x="786384" y="1901952"/>
            <a:ext cx="384048" cy="384048"/>
          </a:xfrm>
          <a:prstGeom prst="ellipse">
            <a:avLst/>
          </a:prstGeom>
          <a:solidFill>
            <a:srgbClr val="C7254E"/>
          </a:solidFill>
          <a:ln/>
        </p:spPr>
      </p:sp>
      <p:sp>
        <p:nvSpPr>
          <p:cNvPr id="6" name="Text 4"/>
          <p:cNvSpPr/>
          <p:nvPr/>
        </p:nvSpPr>
        <p:spPr>
          <a:xfrm>
            <a:off x="1316736" y="1755648"/>
            <a:ext cx="493776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Administrator</a:t>
            </a:r>
            <a:endParaRPr lang="en-US" sz="1500" dirty="0"/>
          </a:p>
        </p:txBody>
      </p:sp>
      <p:sp>
        <p:nvSpPr>
          <p:cNvPr id="7" name="Text 5"/>
          <p:cNvSpPr/>
          <p:nvPr/>
        </p:nvSpPr>
        <p:spPr>
          <a:xfrm>
            <a:off x="1316736" y="2029968"/>
            <a:ext cx="4937760" cy="438912"/>
          </a:xfrm>
          <a:prstGeom prst="rect">
            <a:avLst/>
          </a:prstGeom>
          <a:noFill/>
          <a:ln/>
        </p:spPr>
        <p:txBody>
          <a:bodyPr wrap="square" lIns="0" tIns="0" rIns="0" bIns="0" rtlCol="0" anchor="ctr"/>
          <a:lstStyle/>
          <a:p>
            <a:pPr indent="0" marL="0">
              <a:lnSpc>
                <a:spcPts val="1400"/>
              </a:lnSpc>
              <a:buNone/>
            </a:pPr>
            <a:r>
              <a:rPr lang="en-US" sz="1150" dirty="0">
                <a:solidFill>
                  <a:srgbClr val="64748B"/>
                </a:solidFill>
                <a:latin typeface="Calibri" pitchFamily="34" charset="0"/>
                <a:ea typeface="Calibri" pitchFamily="34" charset="-122"/>
                <a:cs typeface="Calibri" pitchFamily="34" charset="-120"/>
              </a:rPr>
              <a:t>Manage users and roles · activate and deactivate accounts · moderate all content</a:t>
            </a:r>
            <a:endParaRPr lang="en-US" sz="1150" dirty="0"/>
          </a:p>
        </p:txBody>
      </p:sp>
      <p:sp>
        <p:nvSpPr>
          <p:cNvPr id="8" name="Shape 6"/>
          <p:cNvSpPr/>
          <p:nvPr/>
        </p:nvSpPr>
        <p:spPr>
          <a:xfrm>
            <a:off x="566928" y="2697480"/>
            <a:ext cx="5943600" cy="896112"/>
          </a:xfrm>
          <a:prstGeom prst="roundRect">
            <a:avLst>
              <a:gd name="adj" fmla="val 8163"/>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9" name="Shape 7"/>
          <p:cNvSpPr/>
          <p:nvPr/>
        </p:nvSpPr>
        <p:spPr>
          <a:xfrm>
            <a:off x="786384" y="2953512"/>
            <a:ext cx="384048" cy="384048"/>
          </a:xfrm>
          <a:prstGeom prst="ellipse">
            <a:avLst/>
          </a:prstGeom>
          <a:solidFill>
            <a:srgbClr val="0E7490"/>
          </a:solidFill>
          <a:ln/>
        </p:spPr>
      </p:sp>
      <p:sp>
        <p:nvSpPr>
          <p:cNvPr id="10" name="Text 8"/>
          <p:cNvSpPr/>
          <p:nvPr/>
        </p:nvSpPr>
        <p:spPr>
          <a:xfrm>
            <a:off x="1316736" y="2807208"/>
            <a:ext cx="493776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Expert / Professional</a:t>
            </a:r>
            <a:endParaRPr lang="en-US" sz="1500" dirty="0"/>
          </a:p>
        </p:txBody>
      </p:sp>
      <p:sp>
        <p:nvSpPr>
          <p:cNvPr id="11" name="Text 9"/>
          <p:cNvSpPr/>
          <p:nvPr/>
        </p:nvSpPr>
        <p:spPr>
          <a:xfrm>
            <a:off x="1316736" y="3081528"/>
            <a:ext cx="4937760" cy="438912"/>
          </a:xfrm>
          <a:prstGeom prst="rect">
            <a:avLst/>
          </a:prstGeom>
          <a:noFill/>
          <a:ln/>
        </p:spPr>
        <p:txBody>
          <a:bodyPr wrap="square" lIns="0" tIns="0" rIns="0" bIns="0" rtlCol="0" anchor="ctr"/>
          <a:lstStyle/>
          <a:p>
            <a:pPr indent="0" marL="0">
              <a:lnSpc>
                <a:spcPts val="1400"/>
              </a:lnSpc>
              <a:buNone/>
            </a:pPr>
            <a:r>
              <a:rPr lang="en-US" sz="1150" dirty="0">
                <a:solidFill>
                  <a:srgbClr val="64748B"/>
                </a:solidFill>
                <a:latin typeface="Calibri" pitchFamily="34" charset="0"/>
                <a:ea typeface="Calibri" pitchFamily="34" charset="-122"/>
                <a:cs typeface="Calibri" pitchFamily="34" charset="-120"/>
              </a:rPr>
              <a:t>Publish jobs and internships · review applicants · set application status</a:t>
            </a:r>
            <a:endParaRPr lang="en-US" sz="1150" dirty="0"/>
          </a:p>
        </p:txBody>
      </p:sp>
      <p:sp>
        <p:nvSpPr>
          <p:cNvPr id="12" name="Shape 10"/>
          <p:cNvSpPr/>
          <p:nvPr/>
        </p:nvSpPr>
        <p:spPr>
          <a:xfrm>
            <a:off x="566928" y="3749040"/>
            <a:ext cx="5943600" cy="896112"/>
          </a:xfrm>
          <a:prstGeom prst="roundRect">
            <a:avLst>
              <a:gd name="adj" fmla="val 8163"/>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3" name="Shape 11"/>
          <p:cNvSpPr/>
          <p:nvPr/>
        </p:nvSpPr>
        <p:spPr>
          <a:xfrm>
            <a:off x="786384" y="4005072"/>
            <a:ext cx="384048" cy="384048"/>
          </a:xfrm>
          <a:prstGeom prst="ellipse">
            <a:avLst/>
          </a:prstGeom>
          <a:solidFill>
            <a:srgbClr val="475569"/>
          </a:solidFill>
          <a:ln/>
        </p:spPr>
      </p:sp>
      <p:sp>
        <p:nvSpPr>
          <p:cNvPr id="14" name="Text 12"/>
          <p:cNvSpPr/>
          <p:nvPr/>
        </p:nvSpPr>
        <p:spPr>
          <a:xfrm>
            <a:off x="1316736" y="3858768"/>
            <a:ext cx="4937760" cy="2743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Member</a:t>
            </a:r>
            <a:endParaRPr lang="en-US" sz="1500" dirty="0"/>
          </a:p>
        </p:txBody>
      </p:sp>
      <p:sp>
        <p:nvSpPr>
          <p:cNvPr id="15" name="Text 13"/>
          <p:cNvSpPr/>
          <p:nvPr/>
        </p:nvSpPr>
        <p:spPr>
          <a:xfrm>
            <a:off x="1316736" y="4133088"/>
            <a:ext cx="4937760" cy="438912"/>
          </a:xfrm>
          <a:prstGeom prst="rect">
            <a:avLst/>
          </a:prstGeom>
          <a:noFill/>
          <a:ln/>
        </p:spPr>
        <p:txBody>
          <a:bodyPr wrap="square" lIns="0" tIns="0" rIns="0" bIns="0" rtlCol="0" anchor="ctr"/>
          <a:lstStyle/>
          <a:p>
            <a:pPr indent="0" marL="0">
              <a:lnSpc>
                <a:spcPts val="1400"/>
              </a:lnSpc>
              <a:buNone/>
            </a:pPr>
            <a:r>
              <a:rPr lang="en-US" sz="1150" dirty="0">
                <a:solidFill>
                  <a:srgbClr val="64748B"/>
                </a:solidFill>
                <a:latin typeface="Calibri" pitchFamily="34" charset="0"/>
                <a:ea typeface="Calibri" pitchFamily="34" charset="-122"/>
                <a:cs typeface="Calibri" pitchFamily="34" charset="-120"/>
              </a:rPr>
              <a:t>Ask · answer · vote · edit own content · maintain profile · apply</a:t>
            </a:r>
            <a:endParaRPr lang="en-US" sz="1150" dirty="0"/>
          </a:p>
        </p:txBody>
      </p:sp>
      <p:sp>
        <p:nvSpPr>
          <p:cNvPr id="16" name="Text 14"/>
          <p:cNvSpPr/>
          <p:nvPr/>
        </p:nvSpPr>
        <p:spPr>
          <a:xfrm>
            <a:off x="566928" y="4892040"/>
            <a:ext cx="5943600" cy="54864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Roles live in a normalised table with a foreign key on users — not a string column — so the schema itself documents them.</a:t>
            </a:r>
            <a:endParaRPr lang="en-US" sz="1250" dirty="0"/>
          </a:p>
        </p:txBody>
      </p:sp>
      <p:sp>
        <p:nvSpPr>
          <p:cNvPr id="17" name="Shape 15"/>
          <p:cNvSpPr/>
          <p:nvPr/>
        </p:nvSpPr>
        <p:spPr>
          <a:xfrm>
            <a:off x="6858000" y="1645920"/>
            <a:ext cx="4736592" cy="4206240"/>
          </a:xfrm>
          <a:prstGeom prst="roundRect">
            <a:avLst>
              <a:gd name="adj" fmla="val 1739"/>
            </a:avLst>
          </a:prstGeom>
          <a:solidFill>
            <a:srgbClr val="0F172A"/>
          </a:solidFill>
          <a:ln w="12700">
            <a:solidFill>
              <a:srgbClr val="0F172A"/>
            </a:solidFill>
            <a:prstDash val="solid"/>
          </a:ln>
          <a:effectLst>
            <a:outerShdw sx="100000" sy="100000" kx="0" ky="0" algn="bl" rotWithShape="0" blurRad="101600" dist="25400" dir="5400000">
              <a:srgbClr val="94A3B8">
                <a:alpha val="28000"/>
              </a:srgbClr>
            </a:outerShdw>
          </a:effectLst>
        </p:spPr>
      </p:sp>
      <p:sp>
        <p:nvSpPr>
          <p:cNvPr id="18" name="Text 16"/>
          <p:cNvSpPr/>
          <p:nvPr/>
        </p:nvSpPr>
        <p:spPr>
          <a:xfrm>
            <a:off x="7150608" y="1874520"/>
            <a:ext cx="4206240" cy="274320"/>
          </a:xfrm>
          <a:prstGeom prst="rect">
            <a:avLst/>
          </a:prstGeom>
          <a:noFill/>
          <a:ln/>
        </p:spPr>
        <p:txBody>
          <a:bodyPr wrap="square" lIns="0" tIns="0" rIns="0" bIns="0" rtlCol="0" anchor="ctr"/>
          <a:lstStyle/>
          <a:p>
            <a:pPr indent="0" marL="0">
              <a:buNone/>
            </a:pPr>
            <a:r>
              <a:rPr lang="en-US" sz="1150" b="1" spc="150" kern="0" dirty="0">
                <a:solidFill>
                  <a:srgbClr val="22D3EE"/>
                </a:solidFill>
                <a:latin typeface="Calibri" pitchFamily="34" charset="0"/>
                <a:ea typeface="Calibri" pitchFamily="34" charset="-122"/>
                <a:cs typeface="Calibri" pitchFamily="34" charset="-120"/>
              </a:rPr>
              <a:t>THREE LEVELS OF ENFORCEMENT</a:t>
            </a:r>
            <a:endParaRPr lang="en-US" sz="1150" dirty="0"/>
          </a:p>
        </p:txBody>
      </p:sp>
      <p:sp>
        <p:nvSpPr>
          <p:cNvPr id="19" name="Shape 17"/>
          <p:cNvSpPr/>
          <p:nvPr/>
        </p:nvSpPr>
        <p:spPr>
          <a:xfrm>
            <a:off x="7150608" y="2377440"/>
            <a:ext cx="384048" cy="384048"/>
          </a:xfrm>
          <a:prstGeom prst="ellipse">
            <a:avLst/>
          </a:prstGeom>
          <a:solidFill>
            <a:srgbClr val="22D3EE"/>
          </a:solidFill>
          <a:ln/>
        </p:spPr>
      </p:sp>
      <p:sp>
        <p:nvSpPr>
          <p:cNvPr id="20" name="Text 18"/>
          <p:cNvSpPr/>
          <p:nvPr/>
        </p:nvSpPr>
        <p:spPr>
          <a:xfrm>
            <a:off x="7150608" y="2377440"/>
            <a:ext cx="384048"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1</a:t>
            </a:r>
            <a:endParaRPr lang="en-US" sz="1500" dirty="0"/>
          </a:p>
        </p:txBody>
      </p:sp>
      <p:sp>
        <p:nvSpPr>
          <p:cNvPr id="21" name="Text 19"/>
          <p:cNvSpPr/>
          <p:nvPr/>
        </p:nvSpPr>
        <p:spPr>
          <a:xfrm>
            <a:off x="7699248" y="2359152"/>
            <a:ext cx="365760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Route middleware</a:t>
            </a:r>
            <a:endParaRPr lang="en-US" sz="1450" dirty="0"/>
          </a:p>
        </p:txBody>
      </p:sp>
      <p:sp>
        <p:nvSpPr>
          <p:cNvPr id="22" name="Text 20"/>
          <p:cNvSpPr/>
          <p:nvPr/>
        </p:nvSpPr>
        <p:spPr>
          <a:xfrm>
            <a:off x="7699248" y="2651760"/>
            <a:ext cx="3657600" cy="658368"/>
          </a:xfrm>
          <a:prstGeom prst="rect">
            <a:avLst/>
          </a:prstGeom>
          <a:noFill/>
          <a:ln/>
        </p:spPr>
        <p:txBody>
          <a:bodyPr wrap="square" lIns="0" tIns="0" rIns="0" bIns="0" rtlCol="0" anchor="ctr"/>
          <a:lstStyle/>
          <a:p>
            <a:pPr indent="0" marL="0">
              <a:lnSpc>
                <a:spcPts val="1400"/>
              </a:lnSpc>
              <a:buNone/>
            </a:pPr>
            <a:r>
              <a:rPr lang="en-US" sz="1150" dirty="0">
                <a:solidFill>
                  <a:srgbClr val="A9BACD"/>
                </a:solidFill>
                <a:latin typeface="Calibri" pitchFamily="34" charset="0"/>
                <a:ea typeface="Calibri" pitchFamily="34" charset="-122"/>
                <a:cs typeface="Calibri" pitchFamily="34" charset="-120"/>
              </a:rPr>
              <a:t>EnsureUserHasRole guards whole route groups — role:admin, role:admin,expert</a:t>
            </a:r>
            <a:endParaRPr lang="en-US" sz="1150" dirty="0"/>
          </a:p>
        </p:txBody>
      </p:sp>
      <p:sp>
        <p:nvSpPr>
          <p:cNvPr id="23" name="Shape 21"/>
          <p:cNvSpPr/>
          <p:nvPr/>
        </p:nvSpPr>
        <p:spPr>
          <a:xfrm>
            <a:off x="7150608" y="3511296"/>
            <a:ext cx="384048" cy="384048"/>
          </a:xfrm>
          <a:prstGeom prst="ellipse">
            <a:avLst/>
          </a:prstGeom>
          <a:solidFill>
            <a:srgbClr val="22D3EE"/>
          </a:solidFill>
          <a:ln/>
        </p:spPr>
      </p:sp>
      <p:sp>
        <p:nvSpPr>
          <p:cNvPr id="24" name="Text 22"/>
          <p:cNvSpPr/>
          <p:nvPr/>
        </p:nvSpPr>
        <p:spPr>
          <a:xfrm>
            <a:off x="7150608" y="3511296"/>
            <a:ext cx="384048"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2</a:t>
            </a:r>
            <a:endParaRPr lang="en-US" sz="1500" dirty="0"/>
          </a:p>
        </p:txBody>
      </p:sp>
      <p:sp>
        <p:nvSpPr>
          <p:cNvPr id="25" name="Text 23"/>
          <p:cNvSpPr/>
          <p:nvPr/>
        </p:nvSpPr>
        <p:spPr>
          <a:xfrm>
            <a:off x="7699248" y="3493008"/>
            <a:ext cx="365760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Ownership checks</a:t>
            </a:r>
            <a:endParaRPr lang="en-US" sz="1450" dirty="0"/>
          </a:p>
        </p:txBody>
      </p:sp>
      <p:sp>
        <p:nvSpPr>
          <p:cNvPr id="26" name="Text 24"/>
          <p:cNvSpPr/>
          <p:nvPr/>
        </p:nvSpPr>
        <p:spPr>
          <a:xfrm>
            <a:off x="7699248" y="3785616"/>
            <a:ext cx="3657600" cy="658368"/>
          </a:xfrm>
          <a:prstGeom prst="rect">
            <a:avLst/>
          </a:prstGeom>
          <a:noFill/>
          <a:ln/>
        </p:spPr>
        <p:txBody>
          <a:bodyPr wrap="square" lIns="0" tIns="0" rIns="0" bIns="0" rtlCol="0" anchor="ctr"/>
          <a:lstStyle/>
          <a:p>
            <a:pPr indent="0" marL="0">
              <a:lnSpc>
                <a:spcPts val="1400"/>
              </a:lnSpc>
              <a:buNone/>
            </a:pPr>
            <a:r>
              <a:rPr lang="en-US" sz="1150" dirty="0">
                <a:solidFill>
                  <a:srgbClr val="A9BACD"/>
                </a:solidFill>
                <a:latin typeface="Calibri" pitchFamily="34" charset="0"/>
                <a:ea typeface="Calibri" pitchFamily="34" charset="-122"/>
                <a:cs typeface="Calibri" pitchFamily="34" charset="-120"/>
              </a:rPr>
              <a:t>Only the author or an admin may edit a record — a decision middleware cannot make</a:t>
            </a:r>
            <a:endParaRPr lang="en-US" sz="1150" dirty="0"/>
          </a:p>
        </p:txBody>
      </p:sp>
      <p:sp>
        <p:nvSpPr>
          <p:cNvPr id="27" name="Shape 25"/>
          <p:cNvSpPr/>
          <p:nvPr/>
        </p:nvSpPr>
        <p:spPr>
          <a:xfrm>
            <a:off x="7150608" y="4645152"/>
            <a:ext cx="384048" cy="384048"/>
          </a:xfrm>
          <a:prstGeom prst="ellipse">
            <a:avLst/>
          </a:prstGeom>
          <a:solidFill>
            <a:srgbClr val="22D3EE"/>
          </a:solidFill>
          <a:ln/>
        </p:spPr>
      </p:sp>
      <p:sp>
        <p:nvSpPr>
          <p:cNvPr id="28" name="Text 26"/>
          <p:cNvSpPr/>
          <p:nvPr/>
        </p:nvSpPr>
        <p:spPr>
          <a:xfrm>
            <a:off x="7150608" y="4645152"/>
            <a:ext cx="384048" cy="38404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3</a:t>
            </a:r>
            <a:endParaRPr lang="en-US" sz="1500" dirty="0"/>
          </a:p>
        </p:txBody>
      </p:sp>
      <p:sp>
        <p:nvSpPr>
          <p:cNvPr id="29" name="Text 27"/>
          <p:cNvSpPr/>
          <p:nvPr/>
        </p:nvSpPr>
        <p:spPr>
          <a:xfrm>
            <a:off x="7699248" y="4626864"/>
            <a:ext cx="365760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Conditional interface</a:t>
            </a:r>
            <a:endParaRPr lang="en-US" sz="1450" dirty="0"/>
          </a:p>
        </p:txBody>
      </p:sp>
      <p:sp>
        <p:nvSpPr>
          <p:cNvPr id="30" name="Text 28"/>
          <p:cNvSpPr/>
          <p:nvPr/>
        </p:nvSpPr>
        <p:spPr>
          <a:xfrm>
            <a:off x="7699248" y="4919472"/>
            <a:ext cx="3657600" cy="658368"/>
          </a:xfrm>
          <a:prstGeom prst="rect">
            <a:avLst/>
          </a:prstGeom>
          <a:noFill/>
          <a:ln/>
        </p:spPr>
        <p:txBody>
          <a:bodyPr wrap="square" lIns="0" tIns="0" rIns="0" bIns="0" rtlCol="0" anchor="ctr"/>
          <a:lstStyle/>
          <a:p>
            <a:pPr indent="0" marL="0">
              <a:lnSpc>
                <a:spcPts val="1400"/>
              </a:lnSpc>
              <a:buNone/>
            </a:pPr>
            <a:r>
              <a:rPr lang="en-US" sz="1150" dirty="0">
                <a:solidFill>
                  <a:srgbClr val="A9BACD"/>
                </a:solidFill>
                <a:latin typeface="Calibri" pitchFamily="34" charset="0"/>
                <a:ea typeface="Calibri" pitchFamily="34" charset="-122"/>
                <a:cs typeface="Calibri" pitchFamily="34" charset="-120"/>
              </a:rPr>
              <a:t>Blade renders only the actions the current role can actually perform</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058400" cy="237744"/>
          </a:xfrm>
          <a:prstGeom prst="rect">
            <a:avLst/>
          </a:prstGeom>
          <a:noFill/>
          <a:ln/>
        </p:spPr>
        <p:txBody>
          <a:bodyPr wrap="square" lIns="0" tIns="0" rIns="0" bIns="0" rtlCol="0" anchor="ctr"/>
          <a:lstStyle/>
          <a:p>
            <a:pPr indent="0" marL="0">
              <a:buNone/>
            </a:pPr>
            <a:r>
              <a:rPr lang="en-US" sz="1200" b="1" spc="200" kern="0" dirty="0">
                <a:solidFill>
                  <a:srgbClr val="0E7490"/>
                </a:solidFill>
                <a:latin typeface="Calibri" pitchFamily="34" charset="0"/>
                <a:ea typeface="Calibri" pitchFamily="34" charset="-122"/>
                <a:cs typeface="Calibri" pitchFamily="34" charset="-120"/>
              </a:rPr>
              <a:t>MODULES 3 &amp; 4</a:t>
            </a:r>
            <a:endParaRPr lang="en-US" sz="120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The same page, three different answers</a:t>
            </a:r>
            <a:endParaRPr lang="en-US" sz="3200" dirty="0"/>
          </a:p>
        </p:txBody>
      </p:sp>
      <p:sp>
        <p:nvSpPr>
          <p:cNvPr id="4" name="Text 2"/>
          <p:cNvSpPr/>
          <p:nvPr/>
        </p:nvSpPr>
        <p:spPr>
          <a:xfrm>
            <a:off x="566928" y="1481328"/>
            <a:ext cx="1088136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The dashboard is the clearest single demonstration of role-based access: three users sign in one after another and see three visibly different pages.</a:t>
            </a:r>
            <a:endParaRPr lang="en-US" sz="1400" dirty="0"/>
          </a:p>
        </p:txBody>
      </p:sp>
      <p:sp>
        <p:nvSpPr>
          <p:cNvPr id="5" name="Shape 3"/>
          <p:cNvSpPr/>
          <p:nvPr/>
        </p:nvSpPr>
        <p:spPr>
          <a:xfrm>
            <a:off x="566928" y="2011680"/>
            <a:ext cx="2395728" cy="2514600"/>
          </a:xfrm>
          <a:prstGeom prst="roundRect">
            <a:avLst>
              <a:gd name="adj" fmla="val 3053"/>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6" name="Shape 4"/>
          <p:cNvSpPr/>
          <p:nvPr/>
        </p:nvSpPr>
        <p:spPr>
          <a:xfrm>
            <a:off x="768096" y="2212848"/>
            <a:ext cx="1993392" cy="329184"/>
          </a:xfrm>
          <a:prstGeom prst="roundRect">
            <a:avLst>
              <a:gd name="adj" fmla="val 16667"/>
            </a:avLst>
          </a:prstGeom>
          <a:solidFill>
            <a:srgbClr val="C7254E"/>
          </a:solidFill>
          <a:ln/>
        </p:spPr>
      </p:sp>
      <p:sp>
        <p:nvSpPr>
          <p:cNvPr id="7" name="Text 5"/>
          <p:cNvSpPr/>
          <p:nvPr/>
        </p:nvSpPr>
        <p:spPr>
          <a:xfrm>
            <a:off x="768096" y="2212848"/>
            <a:ext cx="1993392"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Administrator</a:t>
            </a:r>
            <a:endParaRPr lang="en-US" sz="1250" dirty="0"/>
          </a:p>
        </p:txBody>
      </p:sp>
      <p:sp>
        <p:nvSpPr>
          <p:cNvPr id="8" name="Text 6"/>
          <p:cNvSpPr/>
          <p:nvPr/>
        </p:nvSpPr>
        <p:spPr>
          <a:xfrm>
            <a:off x="841248" y="2697480"/>
            <a:ext cx="1920240" cy="16916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Total users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Questions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Answers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Open opportunities</a:t>
            </a:r>
            <a:endParaRPr lang="en-US" sz="1200" dirty="0"/>
          </a:p>
        </p:txBody>
      </p:sp>
      <p:sp>
        <p:nvSpPr>
          <p:cNvPr id="9" name="Shape 7"/>
          <p:cNvSpPr/>
          <p:nvPr/>
        </p:nvSpPr>
        <p:spPr>
          <a:xfrm>
            <a:off x="3172968" y="2011680"/>
            <a:ext cx="2395728" cy="2514600"/>
          </a:xfrm>
          <a:prstGeom prst="roundRect">
            <a:avLst>
              <a:gd name="adj" fmla="val 3053"/>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0" name="Shape 8"/>
          <p:cNvSpPr/>
          <p:nvPr/>
        </p:nvSpPr>
        <p:spPr>
          <a:xfrm>
            <a:off x="3374136" y="2212848"/>
            <a:ext cx="1993392" cy="329184"/>
          </a:xfrm>
          <a:prstGeom prst="roundRect">
            <a:avLst>
              <a:gd name="adj" fmla="val 16667"/>
            </a:avLst>
          </a:prstGeom>
          <a:solidFill>
            <a:srgbClr val="0E7490"/>
          </a:solidFill>
          <a:ln/>
        </p:spPr>
      </p:sp>
      <p:sp>
        <p:nvSpPr>
          <p:cNvPr id="11" name="Text 9"/>
          <p:cNvSpPr/>
          <p:nvPr/>
        </p:nvSpPr>
        <p:spPr>
          <a:xfrm>
            <a:off x="3374136" y="2212848"/>
            <a:ext cx="1993392"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Expert</a:t>
            </a:r>
            <a:endParaRPr lang="en-US" sz="1250" dirty="0"/>
          </a:p>
        </p:txBody>
      </p:sp>
      <p:sp>
        <p:nvSpPr>
          <p:cNvPr id="12" name="Text 10"/>
          <p:cNvSpPr/>
          <p:nvPr/>
        </p:nvSpPr>
        <p:spPr>
          <a:xfrm>
            <a:off x="3447288" y="2697480"/>
            <a:ext cx="1920240" cy="16916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My answers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My questions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Jobs I posted</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Applicants received</a:t>
            </a:r>
            <a:endParaRPr lang="en-US" sz="1200" dirty="0"/>
          </a:p>
        </p:txBody>
      </p:sp>
      <p:sp>
        <p:nvSpPr>
          <p:cNvPr id="13" name="Shape 11"/>
          <p:cNvSpPr/>
          <p:nvPr/>
        </p:nvSpPr>
        <p:spPr>
          <a:xfrm>
            <a:off x="5779008" y="2011680"/>
            <a:ext cx="2395728" cy="2514600"/>
          </a:xfrm>
          <a:prstGeom prst="roundRect">
            <a:avLst>
              <a:gd name="adj" fmla="val 3053"/>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4" name="Shape 12"/>
          <p:cNvSpPr/>
          <p:nvPr/>
        </p:nvSpPr>
        <p:spPr>
          <a:xfrm>
            <a:off x="5980176" y="2212848"/>
            <a:ext cx="1993392" cy="329184"/>
          </a:xfrm>
          <a:prstGeom prst="roundRect">
            <a:avLst>
              <a:gd name="adj" fmla="val 16667"/>
            </a:avLst>
          </a:prstGeom>
          <a:solidFill>
            <a:srgbClr val="475569"/>
          </a:solidFill>
          <a:ln/>
        </p:spPr>
      </p:sp>
      <p:sp>
        <p:nvSpPr>
          <p:cNvPr id="15" name="Text 13"/>
          <p:cNvSpPr/>
          <p:nvPr/>
        </p:nvSpPr>
        <p:spPr>
          <a:xfrm>
            <a:off x="5980176" y="2212848"/>
            <a:ext cx="1993392"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Member</a:t>
            </a:r>
            <a:endParaRPr lang="en-US" sz="1250" dirty="0"/>
          </a:p>
        </p:txBody>
      </p:sp>
      <p:sp>
        <p:nvSpPr>
          <p:cNvPr id="16" name="Text 14"/>
          <p:cNvSpPr/>
          <p:nvPr/>
        </p:nvSpPr>
        <p:spPr>
          <a:xfrm>
            <a:off x="6053328" y="2697480"/>
            <a:ext cx="1920240" cy="16916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My questions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My answers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My applications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Open jobs</a:t>
            </a:r>
            <a:endParaRPr lang="en-US" sz="1200" dirty="0"/>
          </a:p>
        </p:txBody>
      </p:sp>
      <p:sp>
        <p:nvSpPr>
          <p:cNvPr id="17" name="Shape 15"/>
          <p:cNvSpPr/>
          <p:nvPr/>
        </p:nvSpPr>
        <p:spPr>
          <a:xfrm>
            <a:off x="8549640" y="2011680"/>
            <a:ext cx="3044952" cy="2514600"/>
          </a:xfrm>
          <a:prstGeom prst="roundRect">
            <a:avLst>
              <a:gd name="adj" fmla="val 2909"/>
            </a:avLst>
          </a:prstGeom>
          <a:solidFill>
            <a:srgbClr val="F1F5F9"/>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8" name="Text 16"/>
          <p:cNvSpPr/>
          <p:nvPr/>
        </p:nvSpPr>
        <p:spPr>
          <a:xfrm>
            <a:off x="8796528" y="2212848"/>
            <a:ext cx="2651760" cy="274320"/>
          </a:xfrm>
          <a:prstGeom prst="rect">
            <a:avLst/>
          </a:prstGeom>
          <a:noFill/>
          <a:ln/>
        </p:spPr>
        <p:txBody>
          <a:bodyPr wrap="square" lIns="0" tIns="0" rIns="0" bIns="0" rtlCol="0" anchor="ctr"/>
          <a:lstStyle/>
          <a:p>
            <a:pPr indent="0" marL="0">
              <a:buNone/>
            </a:pPr>
            <a:r>
              <a:rPr lang="en-US" sz="1150" b="1" spc="140" kern="0" dirty="0">
                <a:solidFill>
                  <a:srgbClr val="0E7490"/>
                </a:solidFill>
                <a:latin typeface="Calibri" pitchFamily="34" charset="0"/>
                <a:ea typeface="Calibri" pitchFamily="34" charset="-122"/>
                <a:cs typeface="Calibri" pitchFamily="34" charset="-120"/>
              </a:rPr>
              <a:t>USER PROFILE</a:t>
            </a:r>
            <a:endParaRPr lang="en-US" sz="1150" dirty="0"/>
          </a:p>
        </p:txBody>
      </p:sp>
      <p:sp>
        <p:nvSpPr>
          <p:cNvPr id="19" name="Text 17"/>
          <p:cNvSpPr/>
          <p:nvPr/>
        </p:nvSpPr>
        <p:spPr>
          <a:xfrm>
            <a:off x="8851392" y="2651760"/>
            <a:ext cx="2560320" cy="17373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Public profile page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Avatar upload, 2 MB cap</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Bio, skills, organisation</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Social links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Password change</a:t>
            </a:r>
            <a:endParaRPr lang="en-US" sz="1200" dirty="0"/>
          </a:p>
        </p:txBody>
      </p:sp>
      <p:sp>
        <p:nvSpPr>
          <p:cNvPr id="20" name="Shape 18"/>
          <p:cNvSpPr/>
          <p:nvPr/>
        </p:nvSpPr>
        <p:spPr>
          <a:xfrm>
            <a:off x="566928" y="4800600"/>
            <a:ext cx="11027664" cy="1051560"/>
          </a:xfrm>
          <a:prstGeom prst="roundRect">
            <a:avLst>
              <a:gd name="adj" fmla="val 6957"/>
            </a:avLst>
          </a:prstGeom>
          <a:solidFill>
            <a:srgbClr val="0F172A"/>
          </a:solidFill>
          <a:ln w="12700">
            <a:solidFill>
              <a:srgbClr val="0F172A"/>
            </a:solidFill>
            <a:prstDash val="solid"/>
          </a:ln>
          <a:effectLst>
            <a:outerShdw sx="100000" sy="100000" kx="0" ky="0" algn="bl" rotWithShape="0" blurRad="101600" dist="25400" dir="5400000">
              <a:srgbClr val="94A3B8">
                <a:alpha val="28000"/>
              </a:srgbClr>
            </a:outerShdw>
          </a:effectLst>
        </p:spPr>
      </p:sp>
      <p:sp>
        <p:nvSpPr>
          <p:cNvPr id="21" name="Text 19"/>
          <p:cNvSpPr/>
          <p:nvPr/>
        </p:nvSpPr>
        <p:spPr>
          <a:xfrm>
            <a:off x="886968" y="5029200"/>
            <a:ext cx="10424160" cy="640080"/>
          </a:xfrm>
          <a:prstGeom prst="rect">
            <a:avLst/>
          </a:prstGeom>
          <a:noFill/>
          <a:ln/>
        </p:spPr>
        <p:txBody>
          <a:bodyPr wrap="square" lIns="0" tIns="0" rIns="0" bIns="0" rtlCol="0" anchor="ctr"/>
          <a:lstStyle/>
          <a:p>
            <a:pPr indent="0" marL="0">
              <a:lnSpc>
                <a:spcPts val="1900"/>
              </a:lnSpc>
              <a:buNone/>
            </a:pPr>
            <a:r>
              <a:rPr lang="en-US" sz="1350" dirty="0">
                <a:solidFill>
                  <a:srgbClr val="CBD5E1"/>
                </a:solidFill>
                <a:latin typeface="Calibri" pitchFamily="34" charset="0"/>
                <a:ea typeface="Calibri" pitchFamily="34" charset="-122"/>
                <a:cs typeface="Calibri" pitchFamily="34" charset="-120"/>
              </a:rPr>
              <a:t>Every role also sees recent community questions, the latest opportunities, their own contributions, and the Phase 2 roadmap — so the dashboard doubles as a map of the whole platform.</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058400" cy="237744"/>
          </a:xfrm>
          <a:prstGeom prst="rect">
            <a:avLst/>
          </a:prstGeom>
          <a:noFill/>
          <a:ln/>
        </p:spPr>
        <p:txBody>
          <a:bodyPr wrap="square" lIns="0" tIns="0" rIns="0" bIns="0" rtlCol="0" anchor="ctr"/>
          <a:lstStyle/>
          <a:p>
            <a:pPr indent="0" marL="0">
              <a:buNone/>
            </a:pPr>
            <a:r>
              <a:rPr lang="en-US" sz="1200" b="1" spc="200" kern="0" dirty="0">
                <a:solidFill>
                  <a:srgbClr val="0E7490"/>
                </a:solidFill>
                <a:latin typeface="Calibri" pitchFamily="34" charset="0"/>
                <a:ea typeface="Calibri" pitchFamily="34" charset="-122"/>
                <a:cs typeface="Calibri" pitchFamily="34" charset="-120"/>
              </a:rPr>
              <a:t>MODULE 5 · FR2</a:t>
            </a:r>
            <a:endParaRPr lang="en-US" sz="120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A full question-and-answer workflow</a:t>
            </a:r>
            <a:endParaRPr lang="en-US" sz="3200" dirty="0"/>
          </a:p>
        </p:txBody>
      </p:sp>
      <p:sp>
        <p:nvSpPr>
          <p:cNvPr id="4" name="Shape 2"/>
          <p:cNvSpPr/>
          <p:nvPr/>
        </p:nvSpPr>
        <p:spPr>
          <a:xfrm>
            <a:off x="566928" y="1691640"/>
            <a:ext cx="3566160" cy="1024128"/>
          </a:xfrm>
          <a:prstGeom prst="roundRect">
            <a:avLst>
              <a:gd name="adj" fmla="val 6250"/>
            </a:avLst>
          </a:prstGeom>
          <a:solidFill>
            <a:srgbClr val="F8FAFC"/>
          </a:solidFill>
          <a:ln w="12700">
            <a:solidFill>
              <a:srgbClr val="E2E8F0"/>
            </a:solidFill>
            <a:prstDash val="solid"/>
          </a:ln>
        </p:spPr>
      </p:sp>
      <p:sp>
        <p:nvSpPr>
          <p:cNvPr id="5" name="Text 3"/>
          <p:cNvSpPr/>
          <p:nvPr/>
        </p:nvSpPr>
        <p:spPr>
          <a:xfrm>
            <a:off x="786384" y="1819656"/>
            <a:ext cx="3108960" cy="274320"/>
          </a:xfrm>
          <a:prstGeom prst="rect">
            <a:avLst/>
          </a:prstGeom>
          <a:noFill/>
          <a:ln/>
        </p:spPr>
        <p:txBody>
          <a:bodyPr wrap="square" lIns="0" tIns="0" rIns="0" bIns="0" rtlCol="0" anchor="ctr"/>
          <a:lstStyle/>
          <a:p>
            <a:pPr indent="0" marL="0">
              <a:buNone/>
            </a:pPr>
            <a:r>
              <a:rPr lang="en-US" sz="1500" b="1" dirty="0">
                <a:solidFill>
                  <a:srgbClr val="0E7490"/>
                </a:solidFill>
                <a:latin typeface="Calibri" pitchFamily="34" charset="0"/>
                <a:ea typeface="Calibri" pitchFamily="34" charset="-122"/>
                <a:cs typeface="Calibri" pitchFamily="34" charset="-120"/>
              </a:rPr>
              <a:t>Ask</a:t>
            </a:r>
            <a:endParaRPr lang="en-US" sz="1500" dirty="0"/>
          </a:p>
        </p:txBody>
      </p:sp>
      <p:sp>
        <p:nvSpPr>
          <p:cNvPr id="6" name="Text 4"/>
          <p:cNvSpPr/>
          <p:nvPr/>
        </p:nvSpPr>
        <p:spPr>
          <a:xfrm>
            <a:off x="786384" y="2112264"/>
            <a:ext cx="3154680" cy="548640"/>
          </a:xfrm>
          <a:prstGeom prst="rect">
            <a:avLst/>
          </a:prstGeom>
          <a:noFill/>
          <a:ln/>
        </p:spPr>
        <p:txBody>
          <a:bodyPr wrap="square" lIns="0" tIns="0" rIns="0" bIns="0" rtlCol="0" anchor="ctr"/>
          <a:lstStyle/>
          <a:p>
            <a:pPr indent="0" marL="0">
              <a:lnSpc>
                <a:spcPts val="1400"/>
              </a:lnSpc>
              <a:buNone/>
            </a:pPr>
            <a:r>
              <a:rPr lang="en-US" sz="1150" dirty="0">
                <a:solidFill>
                  <a:srgbClr val="475569"/>
                </a:solidFill>
                <a:latin typeface="Calibri" pitchFamily="34" charset="0"/>
                <a:ea typeface="Calibri" pitchFamily="34" charset="-122"/>
                <a:cs typeface="Calibri" pitchFamily="34" charset="-120"/>
              </a:rPr>
              <a:t>Title, category, up to five tags, auto-generated unique slug</a:t>
            </a:r>
            <a:endParaRPr lang="en-US" sz="1150" dirty="0"/>
          </a:p>
        </p:txBody>
      </p:sp>
      <p:sp>
        <p:nvSpPr>
          <p:cNvPr id="7" name="Shape 5"/>
          <p:cNvSpPr/>
          <p:nvPr/>
        </p:nvSpPr>
        <p:spPr>
          <a:xfrm>
            <a:off x="4361688" y="1691640"/>
            <a:ext cx="3566160" cy="1024128"/>
          </a:xfrm>
          <a:prstGeom prst="roundRect">
            <a:avLst>
              <a:gd name="adj" fmla="val 6250"/>
            </a:avLst>
          </a:prstGeom>
          <a:solidFill>
            <a:srgbClr val="F8FAFC"/>
          </a:solidFill>
          <a:ln w="12700">
            <a:solidFill>
              <a:srgbClr val="E2E8F0"/>
            </a:solidFill>
            <a:prstDash val="solid"/>
          </a:ln>
        </p:spPr>
      </p:sp>
      <p:sp>
        <p:nvSpPr>
          <p:cNvPr id="8" name="Text 6"/>
          <p:cNvSpPr/>
          <p:nvPr/>
        </p:nvSpPr>
        <p:spPr>
          <a:xfrm>
            <a:off x="4581144" y="1819656"/>
            <a:ext cx="3108960" cy="274320"/>
          </a:xfrm>
          <a:prstGeom prst="rect">
            <a:avLst/>
          </a:prstGeom>
          <a:noFill/>
          <a:ln/>
        </p:spPr>
        <p:txBody>
          <a:bodyPr wrap="square" lIns="0" tIns="0" rIns="0" bIns="0" rtlCol="0" anchor="ctr"/>
          <a:lstStyle/>
          <a:p>
            <a:pPr indent="0" marL="0">
              <a:buNone/>
            </a:pPr>
            <a:r>
              <a:rPr lang="en-US" sz="1500" b="1" dirty="0">
                <a:solidFill>
                  <a:srgbClr val="0E7490"/>
                </a:solidFill>
                <a:latin typeface="Calibri" pitchFamily="34" charset="0"/>
                <a:ea typeface="Calibri" pitchFamily="34" charset="-122"/>
                <a:cs typeface="Calibri" pitchFamily="34" charset="-120"/>
              </a:rPr>
              <a:t>Browse</a:t>
            </a:r>
            <a:endParaRPr lang="en-US" sz="1500" dirty="0"/>
          </a:p>
        </p:txBody>
      </p:sp>
      <p:sp>
        <p:nvSpPr>
          <p:cNvPr id="9" name="Text 7"/>
          <p:cNvSpPr/>
          <p:nvPr/>
        </p:nvSpPr>
        <p:spPr>
          <a:xfrm>
            <a:off x="4581144" y="2112264"/>
            <a:ext cx="3154680" cy="548640"/>
          </a:xfrm>
          <a:prstGeom prst="rect">
            <a:avLst/>
          </a:prstGeom>
          <a:noFill/>
          <a:ln/>
        </p:spPr>
        <p:txBody>
          <a:bodyPr wrap="square" lIns="0" tIns="0" rIns="0" bIns="0" rtlCol="0" anchor="ctr"/>
          <a:lstStyle/>
          <a:p>
            <a:pPr indent="0" marL="0">
              <a:lnSpc>
                <a:spcPts val="1400"/>
              </a:lnSpc>
              <a:buNone/>
            </a:pPr>
            <a:r>
              <a:rPr lang="en-US" sz="1150" dirty="0">
                <a:solidFill>
                  <a:srgbClr val="475569"/>
                </a:solidFill>
                <a:latin typeface="Calibri" pitchFamily="34" charset="0"/>
                <a:ea typeface="Calibri" pitchFamily="34" charset="-122"/>
                <a:cs typeface="Calibri" pitchFamily="34" charset="-120"/>
              </a:rPr>
              <a:t>Search, category filter, tag filter, newest / most viewed / unanswered</a:t>
            </a:r>
            <a:endParaRPr lang="en-US" sz="1150" dirty="0"/>
          </a:p>
        </p:txBody>
      </p:sp>
      <p:sp>
        <p:nvSpPr>
          <p:cNvPr id="10" name="Shape 8"/>
          <p:cNvSpPr/>
          <p:nvPr/>
        </p:nvSpPr>
        <p:spPr>
          <a:xfrm>
            <a:off x="566928" y="2898648"/>
            <a:ext cx="3566160" cy="1024128"/>
          </a:xfrm>
          <a:prstGeom prst="roundRect">
            <a:avLst>
              <a:gd name="adj" fmla="val 6250"/>
            </a:avLst>
          </a:prstGeom>
          <a:solidFill>
            <a:srgbClr val="F8FAFC"/>
          </a:solidFill>
          <a:ln w="12700">
            <a:solidFill>
              <a:srgbClr val="E2E8F0"/>
            </a:solidFill>
            <a:prstDash val="solid"/>
          </a:ln>
        </p:spPr>
      </p:sp>
      <p:sp>
        <p:nvSpPr>
          <p:cNvPr id="11" name="Text 9"/>
          <p:cNvSpPr/>
          <p:nvPr/>
        </p:nvSpPr>
        <p:spPr>
          <a:xfrm>
            <a:off x="786384" y="3026664"/>
            <a:ext cx="3108960" cy="274320"/>
          </a:xfrm>
          <a:prstGeom prst="rect">
            <a:avLst/>
          </a:prstGeom>
          <a:noFill/>
          <a:ln/>
        </p:spPr>
        <p:txBody>
          <a:bodyPr wrap="square" lIns="0" tIns="0" rIns="0" bIns="0" rtlCol="0" anchor="ctr"/>
          <a:lstStyle/>
          <a:p>
            <a:pPr indent="0" marL="0">
              <a:buNone/>
            </a:pPr>
            <a:r>
              <a:rPr lang="en-US" sz="1500" b="1" dirty="0">
                <a:solidFill>
                  <a:srgbClr val="0E7490"/>
                </a:solidFill>
                <a:latin typeface="Calibri" pitchFamily="34" charset="0"/>
                <a:ea typeface="Calibri" pitchFamily="34" charset="-122"/>
                <a:cs typeface="Calibri" pitchFamily="34" charset="-120"/>
              </a:rPr>
              <a:t>Answer</a:t>
            </a:r>
            <a:endParaRPr lang="en-US" sz="1500" dirty="0"/>
          </a:p>
        </p:txBody>
      </p:sp>
      <p:sp>
        <p:nvSpPr>
          <p:cNvPr id="12" name="Text 10"/>
          <p:cNvSpPr/>
          <p:nvPr/>
        </p:nvSpPr>
        <p:spPr>
          <a:xfrm>
            <a:off x="786384" y="3319272"/>
            <a:ext cx="3154680" cy="548640"/>
          </a:xfrm>
          <a:prstGeom prst="rect">
            <a:avLst/>
          </a:prstGeom>
          <a:noFill/>
          <a:ln/>
        </p:spPr>
        <p:txBody>
          <a:bodyPr wrap="square" lIns="0" tIns="0" rIns="0" bIns="0" rtlCol="0" anchor="ctr"/>
          <a:lstStyle/>
          <a:p>
            <a:pPr indent="0" marL="0">
              <a:lnSpc>
                <a:spcPts val="1400"/>
              </a:lnSpc>
              <a:buNone/>
            </a:pPr>
            <a:r>
              <a:rPr lang="en-US" sz="1150" dirty="0">
                <a:solidFill>
                  <a:srgbClr val="475569"/>
                </a:solidFill>
                <a:latin typeface="Calibri" pitchFamily="34" charset="0"/>
                <a:ea typeface="Calibri" pitchFamily="34" charset="-122"/>
                <a:cs typeface="Calibri" pitchFamily="34" charset="-120"/>
              </a:rPr>
              <a:t>Any signed-in user answers any open question</a:t>
            </a:r>
            <a:endParaRPr lang="en-US" sz="1150" dirty="0"/>
          </a:p>
        </p:txBody>
      </p:sp>
      <p:sp>
        <p:nvSpPr>
          <p:cNvPr id="13" name="Shape 11"/>
          <p:cNvSpPr/>
          <p:nvPr/>
        </p:nvSpPr>
        <p:spPr>
          <a:xfrm>
            <a:off x="4361688" y="2898648"/>
            <a:ext cx="3566160" cy="1024128"/>
          </a:xfrm>
          <a:prstGeom prst="roundRect">
            <a:avLst>
              <a:gd name="adj" fmla="val 6250"/>
            </a:avLst>
          </a:prstGeom>
          <a:solidFill>
            <a:srgbClr val="F8FAFC"/>
          </a:solidFill>
          <a:ln w="12700">
            <a:solidFill>
              <a:srgbClr val="E2E8F0"/>
            </a:solidFill>
            <a:prstDash val="solid"/>
          </a:ln>
        </p:spPr>
      </p:sp>
      <p:sp>
        <p:nvSpPr>
          <p:cNvPr id="14" name="Text 12"/>
          <p:cNvSpPr/>
          <p:nvPr/>
        </p:nvSpPr>
        <p:spPr>
          <a:xfrm>
            <a:off x="4581144" y="3026664"/>
            <a:ext cx="3108960" cy="274320"/>
          </a:xfrm>
          <a:prstGeom prst="rect">
            <a:avLst/>
          </a:prstGeom>
          <a:noFill/>
          <a:ln/>
        </p:spPr>
        <p:txBody>
          <a:bodyPr wrap="square" lIns="0" tIns="0" rIns="0" bIns="0" rtlCol="0" anchor="ctr"/>
          <a:lstStyle/>
          <a:p>
            <a:pPr indent="0" marL="0">
              <a:buNone/>
            </a:pPr>
            <a:r>
              <a:rPr lang="en-US" sz="1500" b="1" dirty="0">
                <a:solidFill>
                  <a:srgbClr val="0E7490"/>
                </a:solidFill>
                <a:latin typeface="Calibri" pitchFamily="34" charset="0"/>
                <a:ea typeface="Calibri" pitchFamily="34" charset="-122"/>
                <a:cs typeface="Calibri" pitchFamily="34" charset="-120"/>
              </a:rPr>
              <a:t>Vote</a:t>
            </a:r>
            <a:endParaRPr lang="en-US" sz="1500" dirty="0"/>
          </a:p>
        </p:txBody>
      </p:sp>
      <p:sp>
        <p:nvSpPr>
          <p:cNvPr id="15" name="Text 13"/>
          <p:cNvSpPr/>
          <p:nvPr/>
        </p:nvSpPr>
        <p:spPr>
          <a:xfrm>
            <a:off x="4581144" y="3319272"/>
            <a:ext cx="3154680" cy="548640"/>
          </a:xfrm>
          <a:prstGeom prst="rect">
            <a:avLst/>
          </a:prstGeom>
          <a:noFill/>
          <a:ln/>
        </p:spPr>
        <p:txBody>
          <a:bodyPr wrap="square" lIns="0" tIns="0" rIns="0" bIns="0" rtlCol="0" anchor="ctr"/>
          <a:lstStyle/>
          <a:p>
            <a:pPr indent="0" marL="0">
              <a:lnSpc>
                <a:spcPts val="1400"/>
              </a:lnSpc>
              <a:buNone/>
            </a:pPr>
            <a:r>
              <a:rPr lang="en-US" sz="1150" dirty="0">
                <a:solidFill>
                  <a:srgbClr val="475569"/>
                </a:solidFill>
                <a:latin typeface="Calibri" pitchFamily="34" charset="0"/>
                <a:ea typeface="Calibri" pitchFamily="34" charset="-122"/>
                <a:cs typeface="Calibri" pitchFamily="34" charset="-120"/>
              </a:rPr>
              <a:t>Up and down on questions and answers; click again to undo; never on your own post</a:t>
            </a:r>
            <a:endParaRPr lang="en-US" sz="1150" dirty="0"/>
          </a:p>
        </p:txBody>
      </p:sp>
      <p:sp>
        <p:nvSpPr>
          <p:cNvPr id="16" name="Shape 14"/>
          <p:cNvSpPr/>
          <p:nvPr/>
        </p:nvSpPr>
        <p:spPr>
          <a:xfrm>
            <a:off x="566928" y="4105656"/>
            <a:ext cx="3566160" cy="1024128"/>
          </a:xfrm>
          <a:prstGeom prst="roundRect">
            <a:avLst>
              <a:gd name="adj" fmla="val 6250"/>
            </a:avLst>
          </a:prstGeom>
          <a:solidFill>
            <a:srgbClr val="F8FAFC"/>
          </a:solidFill>
          <a:ln w="12700">
            <a:solidFill>
              <a:srgbClr val="E2E8F0"/>
            </a:solidFill>
            <a:prstDash val="solid"/>
          </a:ln>
        </p:spPr>
      </p:sp>
      <p:sp>
        <p:nvSpPr>
          <p:cNvPr id="17" name="Text 15"/>
          <p:cNvSpPr/>
          <p:nvPr/>
        </p:nvSpPr>
        <p:spPr>
          <a:xfrm>
            <a:off x="786384" y="4233672"/>
            <a:ext cx="3108960" cy="274320"/>
          </a:xfrm>
          <a:prstGeom prst="rect">
            <a:avLst/>
          </a:prstGeom>
          <a:noFill/>
          <a:ln/>
        </p:spPr>
        <p:txBody>
          <a:bodyPr wrap="square" lIns="0" tIns="0" rIns="0" bIns="0" rtlCol="0" anchor="ctr"/>
          <a:lstStyle/>
          <a:p>
            <a:pPr indent="0" marL="0">
              <a:buNone/>
            </a:pPr>
            <a:r>
              <a:rPr lang="en-US" sz="1500" b="1" dirty="0">
                <a:solidFill>
                  <a:srgbClr val="0E7490"/>
                </a:solidFill>
                <a:latin typeface="Calibri" pitchFamily="34" charset="0"/>
                <a:ea typeface="Calibri" pitchFamily="34" charset="-122"/>
                <a:cs typeface="Calibri" pitchFamily="34" charset="-120"/>
              </a:rPr>
              <a:t>Accept</a:t>
            </a:r>
            <a:endParaRPr lang="en-US" sz="1500" dirty="0"/>
          </a:p>
        </p:txBody>
      </p:sp>
      <p:sp>
        <p:nvSpPr>
          <p:cNvPr id="18" name="Text 16"/>
          <p:cNvSpPr/>
          <p:nvPr/>
        </p:nvSpPr>
        <p:spPr>
          <a:xfrm>
            <a:off x="786384" y="4526280"/>
            <a:ext cx="3154680" cy="548640"/>
          </a:xfrm>
          <a:prstGeom prst="rect">
            <a:avLst/>
          </a:prstGeom>
          <a:noFill/>
          <a:ln/>
        </p:spPr>
        <p:txBody>
          <a:bodyPr wrap="square" lIns="0" tIns="0" rIns="0" bIns="0" rtlCol="0" anchor="ctr"/>
          <a:lstStyle/>
          <a:p>
            <a:pPr indent="0" marL="0">
              <a:lnSpc>
                <a:spcPts val="1400"/>
              </a:lnSpc>
              <a:buNone/>
            </a:pPr>
            <a:r>
              <a:rPr lang="en-US" sz="1150" dirty="0">
                <a:solidFill>
                  <a:srgbClr val="475569"/>
                </a:solidFill>
                <a:latin typeface="Calibri" pitchFamily="34" charset="0"/>
                <a:ea typeface="Calibri" pitchFamily="34" charset="-122"/>
                <a:cs typeface="Calibri" pitchFamily="34" charset="-120"/>
              </a:rPr>
              <a:t>The author pins one answer as accepted</a:t>
            </a:r>
            <a:endParaRPr lang="en-US" sz="1150" dirty="0"/>
          </a:p>
        </p:txBody>
      </p:sp>
      <p:sp>
        <p:nvSpPr>
          <p:cNvPr id="19" name="Shape 17"/>
          <p:cNvSpPr/>
          <p:nvPr/>
        </p:nvSpPr>
        <p:spPr>
          <a:xfrm>
            <a:off x="4361688" y="4105656"/>
            <a:ext cx="3566160" cy="1024128"/>
          </a:xfrm>
          <a:prstGeom prst="roundRect">
            <a:avLst>
              <a:gd name="adj" fmla="val 6250"/>
            </a:avLst>
          </a:prstGeom>
          <a:solidFill>
            <a:srgbClr val="F8FAFC"/>
          </a:solidFill>
          <a:ln w="12700">
            <a:solidFill>
              <a:srgbClr val="E2E8F0"/>
            </a:solidFill>
            <a:prstDash val="solid"/>
          </a:ln>
        </p:spPr>
      </p:sp>
      <p:sp>
        <p:nvSpPr>
          <p:cNvPr id="20" name="Text 18"/>
          <p:cNvSpPr/>
          <p:nvPr/>
        </p:nvSpPr>
        <p:spPr>
          <a:xfrm>
            <a:off x="4581144" y="4233672"/>
            <a:ext cx="3108960" cy="274320"/>
          </a:xfrm>
          <a:prstGeom prst="rect">
            <a:avLst/>
          </a:prstGeom>
          <a:noFill/>
          <a:ln/>
        </p:spPr>
        <p:txBody>
          <a:bodyPr wrap="square" lIns="0" tIns="0" rIns="0" bIns="0" rtlCol="0" anchor="ctr"/>
          <a:lstStyle/>
          <a:p>
            <a:pPr indent="0" marL="0">
              <a:buNone/>
            </a:pPr>
            <a:r>
              <a:rPr lang="en-US" sz="1500" b="1" dirty="0">
                <a:solidFill>
                  <a:srgbClr val="0E7490"/>
                </a:solidFill>
                <a:latin typeface="Calibri" pitchFamily="34" charset="0"/>
                <a:ea typeface="Calibri" pitchFamily="34" charset="-122"/>
                <a:cs typeface="Calibri" pitchFamily="34" charset="-120"/>
              </a:rPr>
              <a:t>Moderate</a:t>
            </a:r>
            <a:endParaRPr lang="en-US" sz="1500" dirty="0"/>
          </a:p>
        </p:txBody>
      </p:sp>
      <p:sp>
        <p:nvSpPr>
          <p:cNvPr id="21" name="Text 19"/>
          <p:cNvSpPr/>
          <p:nvPr/>
        </p:nvSpPr>
        <p:spPr>
          <a:xfrm>
            <a:off x="4581144" y="4526280"/>
            <a:ext cx="3154680" cy="548640"/>
          </a:xfrm>
          <a:prstGeom prst="rect">
            <a:avLst/>
          </a:prstGeom>
          <a:noFill/>
          <a:ln/>
        </p:spPr>
        <p:txBody>
          <a:bodyPr wrap="square" lIns="0" tIns="0" rIns="0" bIns="0" rtlCol="0" anchor="ctr"/>
          <a:lstStyle/>
          <a:p>
            <a:pPr indent="0" marL="0">
              <a:lnSpc>
                <a:spcPts val="1400"/>
              </a:lnSpc>
              <a:buNone/>
            </a:pPr>
            <a:r>
              <a:rPr lang="en-US" sz="1150" dirty="0">
                <a:solidFill>
                  <a:srgbClr val="475569"/>
                </a:solidFill>
                <a:latin typeface="Calibri" pitchFamily="34" charset="0"/>
                <a:ea typeface="Calibri" pitchFamily="34" charset="-122"/>
                <a:cs typeface="Calibri" pitchFamily="34" charset="-120"/>
              </a:rPr>
              <a:t>An administrator closes, re-opens or deletes</a:t>
            </a:r>
            <a:endParaRPr lang="en-US" sz="1150" dirty="0"/>
          </a:p>
        </p:txBody>
      </p:sp>
      <p:sp>
        <p:nvSpPr>
          <p:cNvPr id="22" name="Shape 20"/>
          <p:cNvSpPr/>
          <p:nvPr/>
        </p:nvSpPr>
        <p:spPr>
          <a:xfrm>
            <a:off x="8183880" y="1691640"/>
            <a:ext cx="3410712" cy="3575304"/>
          </a:xfrm>
          <a:prstGeom prst="roundRect">
            <a:avLst>
              <a:gd name="adj" fmla="val 2145"/>
            </a:avLst>
          </a:prstGeom>
          <a:solidFill>
            <a:srgbClr val="0F172A"/>
          </a:solidFill>
          <a:ln w="12700">
            <a:solidFill>
              <a:srgbClr val="0F172A"/>
            </a:solidFill>
            <a:prstDash val="solid"/>
          </a:ln>
          <a:effectLst>
            <a:outerShdw sx="100000" sy="100000" kx="0" ky="0" algn="bl" rotWithShape="0" blurRad="101600" dist="25400" dir="5400000">
              <a:srgbClr val="94A3B8">
                <a:alpha val="28000"/>
              </a:srgbClr>
            </a:outerShdw>
          </a:effectLst>
        </p:spPr>
      </p:sp>
      <p:sp>
        <p:nvSpPr>
          <p:cNvPr id="23" name="Text 21"/>
          <p:cNvSpPr/>
          <p:nvPr/>
        </p:nvSpPr>
        <p:spPr>
          <a:xfrm>
            <a:off x="8458200" y="1901952"/>
            <a:ext cx="2926080" cy="274320"/>
          </a:xfrm>
          <a:prstGeom prst="rect">
            <a:avLst/>
          </a:prstGeom>
          <a:noFill/>
          <a:ln/>
        </p:spPr>
        <p:txBody>
          <a:bodyPr wrap="square" lIns="0" tIns="0" rIns="0" bIns="0" rtlCol="0" anchor="ctr"/>
          <a:lstStyle/>
          <a:p>
            <a:pPr indent="0" marL="0">
              <a:buNone/>
            </a:pPr>
            <a:r>
              <a:rPr lang="en-US" sz="1150" b="1" spc="150" kern="0" dirty="0">
                <a:solidFill>
                  <a:srgbClr val="22D3EE"/>
                </a:solidFill>
                <a:latin typeface="Calibri" pitchFamily="34" charset="0"/>
                <a:ea typeface="Calibri" pitchFamily="34" charset="-122"/>
                <a:cs typeface="Calibri" pitchFamily="34" charset="-120"/>
              </a:rPr>
              <a:t>DESIGN NOTE</a:t>
            </a:r>
            <a:endParaRPr lang="en-US" sz="1150" dirty="0"/>
          </a:p>
        </p:txBody>
      </p:sp>
      <p:sp>
        <p:nvSpPr>
          <p:cNvPr id="24" name="Text 22"/>
          <p:cNvSpPr/>
          <p:nvPr/>
        </p:nvSpPr>
        <p:spPr>
          <a:xfrm>
            <a:off x="8458200" y="2240280"/>
            <a:ext cx="2926080" cy="685800"/>
          </a:xfrm>
          <a:prstGeom prst="rect">
            <a:avLst/>
          </a:prstGeom>
          <a:noFill/>
          <a:ln/>
        </p:spPr>
        <p:txBody>
          <a:bodyPr wrap="square" lIns="0" tIns="0" rIns="0" bIns="0" rtlCol="0" anchor="ctr"/>
          <a:lstStyle/>
          <a:p>
            <a:pPr indent="0" marL="0">
              <a:lnSpc>
                <a:spcPts val="2300"/>
              </a:lnSpc>
              <a:buNone/>
            </a:pPr>
            <a:r>
              <a:rPr lang="en-US" sz="1800" b="1" dirty="0">
                <a:solidFill>
                  <a:srgbClr val="FFFFFF"/>
                </a:solidFill>
                <a:latin typeface="Calibri" pitchFamily="34" charset="0"/>
                <a:ea typeface="Calibri" pitchFamily="34" charset="-122"/>
                <a:cs typeface="Calibri" pitchFamily="34" charset="-120"/>
              </a:rPr>
              <a:t>One votes table,</a:t>
            </a:r>
            <a:endParaRPr lang="en-US" sz="1800" dirty="0"/>
          </a:p>
          <a:p>
            <a:pPr indent="0" marL="0">
              <a:lnSpc>
                <a:spcPts val="2300"/>
              </a:lnSpc>
              <a:buNone/>
            </a:pPr>
            <a:r>
              <a:rPr lang="en-US" sz="1800" b="1" dirty="0">
                <a:solidFill>
                  <a:srgbClr val="FFFFFF"/>
                </a:solidFill>
                <a:latin typeface="Calibri" pitchFamily="34" charset="0"/>
                <a:ea typeface="Calibri" pitchFamily="34" charset="-122"/>
                <a:cs typeface="Calibri" pitchFamily="34" charset="-120"/>
              </a:rPr>
              <a:t>two kinds of content</a:t>
            </a:r>
            <a:endParaRPr lang="en-US" sz="1800" dirty="0"/>
          </a:p>
        </p:txBody>
      </p:sp>
      <p:sp>
        <p:nvSpPr>
          <p:cNvPr id="25" name="Text 23"/>
          <p:cNvSpPr/>
          <p:nvPr/>
        </p:nvSpPr>
        <p:spPr>
          <a:xfrm>
            <a:off x="8458200" y="3063240"/>
            <a:ext cx="2926080" cy="2011680"/>
          </a:xfrm>
          <a:prstGeom prst="rect">
            <a:avLst/>
          </a:prstGeom>
          <a:noFill/>
          <a:ln/>
        </p:spPr>
        <p:txBody>
          <a:bodyPr wrap="square" lIns="0" tIns="0" rIns="0" bIns="0" rtlCol="0" anchor="ctr"/>
          <a:lstStyle/>
          <a:p>
            <a:pPr indent="0" marL="0">
              <a:lnSpc>
                <a:spcPts val="1500"/>
              </a:lnSpc>
              <a:buNone/>
            </a:pPr>
            <a:r>
              <a:rPr lang="en-US" sz="1150" dirty="0">
                <a:solidFill>
                  <a:srgbClr val="A9BACD"/>
                </a:solidFill>
                <a:latin typeface="Calibri" pitchFamily="34" charset="0"/>
                <a:ea typeface="Calibri" pitchFamily="34" charset="-122"/>
                <a:cs typeface="Calibri" pitchFamily="34" charset="-120"/>
              </a:rPr>
              <a:t>Voting applies to questions and to answers. Two vote tables would have meant two sets of near-identical logic.</a:t>
            </a:r>
            <a:endParaRPr lang="en-US" sz="1150" dirty="0"/>
          </a:p>
          <a:p>
            <a:pPr indent="0" marL="0">
              <a:lnSpc>
                <a:spcPts val="1500"/>
              </a:lnSpc>
              <a:buNone/>
            </a:pPr>
            <a:endParaRPr lang="en-US" sz="1150" dirty="0"/>
          </a:p>
          <a:p>
            <a:pPr indent="0" marL="0">
              <a:lnSpc>
                <a:spcPts val="1500"/>
              </a:lnSpc>
              <a:buNone/>
            </a:pPr>
            <a:r>
              <a:rPr lang="en-US" sz="1150" dirty="0">
                <a:solidFill>
                  <a:srgbClr val="A9BACD"/>
                </a:solidFill>
                <a:latin typeface="Calibri" pitchFamily="34" charset="0"/>
                <a:ea typeface="Calibri" pitchFamily="34" charset="-122"/>
                <a:cs typeface="Calibri" pitchFamily="34" charset="-120"/>
              </a:rPr>
              <a:t>A single polymorphic table — votable_type plus votable_id — serves both, and any future module inherits voting at no cost.</a:t>
            </a:r>
            <a:endParaRPr lang="en-US" sz="1150" dirty="0"/>
          </a:p>
        </p:txBody>
      </p:sp>
      <p:sp>
        <p:nvSpPr>
          <p:cNvPr id="26" name="Text 24"/>
          <p:cNvSpPr/>
          <p:nvPr/>
        </p:nvSpPr>
        <p:spPr>
          <a:xfrm>
            <a:off x="566928" y="5532120"/>
            <a:ext cx="11027664" cy="36576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Categories, exactly as named in FR2:    EdTech    ·    Artificial Intelligence    ·    Web Development    ·    Internet Governance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058400" cy="237744"/>
          </a:xfrm>
          <a:prstGeom prst="rect">
            <a:avLst/>
          </a:prstGeom>
          <a:noFill/>
          <a:ln/>
        </p:spPr>
        <p:txBody>
          <a:bodyPr wrap="square" lIns="0" tIns="0" rIns="0" bIns="0" rtlCol="0" anchor="ctr"/>
          <a:lstStyle/>
          <a:p>
            <a:pPr indent="0" marL="0">
              <a:buNone/>
            </a:pPr>
            <a:r>
              <a:rPr lang="en-US" sz="1200" b="1" spc="200" kern="0" dirty="0">
                <a:solidFill>
                  <a:srgbClr val="0E7490"/>
                </a:solidFill>
                <a:latin typeface="Calibri" pitchFamily="34" charset="0"/>
                <a:ea typeface="Calibri" pitchFamily="34" charset="-122"/>
                <a:cs typeface="Calibri" pitchFamily="34" charset="-120"/>
              </a:rPr>
              <a:t>MODULE 6 · FR5</a:t>
            </a:r>
            <a:endParaRPr lang="en-US" sz="120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From posting to hiring decision</a:t>
            </a:r>
            <a:endParaRPr lang="en-US" sz="3200" dirty="0"/>
          </a:p>
        </p:txBody>
      </p:sp>
      <p:sp>
        <p:nvSpPr>
          <p:cNvPr id="4" name="Text 2"/>
          <p:cNvSpPr/>
          <p:nvPr/>
        </p:nvSpPr>
        <p:spPr>
          <a:xfrm>
            <a:off x="566928" y="1481328"/>
            <a:ext cx="10881360" cy="384048"/>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FR5 asks for job postings, internship listings and application submission. We implemented all three plus the employer-side workflow that makes an application mean something.</a:t>
            </a:r>
            <a:endParaRPr lang="en-US" sz="1400" dirty="0"/>
          </a:p>
        </p:txBody>
      </p:sp>
      <p:sp>
        <p:nvSpPr>
          <p:cNvPr id="5" name="Shape 3"/>
          <p:cNvSpPr/>
          <p:nvPr/>
        </p:nvSpPr>
        <p:spPr>
          <a:xfrm>
            <a:off x="566928" y="2148840"/>
            <a:ext cx="2029968" cy="2148840"/>
          </a:xfrm>
          <a:prstGeom prst="roundRect">
            <a:avLst>
              <a:gd name="adj" fmla="val 360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6" name="Shape 4"/>
          <p:cNvSpPr/>
          <p:nvPr/>
        </p:nvSpPr>
        <p:spPr>
          <a:xfrm>
            <a:off x="1353312" y="2359152"/>
            <a:ext cx="457200" cy="457200"/>
          </a:xfrm>
          <a:prstGeom prst="ellipse">
            <a:avLst/>
          </a:prstGeom>
          <a:solidFill>
            <a:srgbClr val="22D3EE"/>
          </a:solidFill>
          <a:ln/>
        </p:spPr>
      </p:sp>
      <p:sp>
        <p:nvSpPr>
          <p:cNvPr id="7" name="Text 5"/>
          <p:cNvSpPr/>
          <p:nvPr/>
        </p:nvSpPr>
        <p:spPr>
          <a:xfrm>
            <a:off x="1353312" y="2359152"/>
            <a:ext cx="4572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676656" y="2926080"/>
            <a:ext cx="1810512" cy="29260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Post</a:t>
            </a:r>
            <a:endParaRPr lang="en-US" sz="1500" dirty="0"/>
          </a:p>
        </p:txBody>
      </p:sp>
      <p:sp>
        <p:nvSpPr>
          <p:cNvPr id="9" name="Text 7"/>
          <p:cNvSpPr/>
          <p:nvPr/>
        </p:nvSpPr>
        <p:spPr>
          <a:xfrm>
            <a:off x="713232" y="3255264"/>
            <a:ext cx="1737360" cy="914400"/>
          </a:xfrm>
          <a:prstGeom prst="rect">
            <a:avLst/>
          </a:prstGeom>
          <a:noFill/>
          <a:ln/>
        </p:spPr>
        <p:txBody>
          <a:bodyPr wrap="square" lIns="0" tIns="0" rIns="0" bIns="0" rtlCol="0" anchor="ctr"/>
          <a:lstStyle/>
          <a:p>
            <a:pPr algn="ctr" indent="0" marL="0">
              <a:lnSpc>
                <a:spcPts val="1400"/>
              </a:lnSpc>
              <a:buNone/>
            </a:pPr>
            <a:r>
              <a:rPr lang="en-US" sz="1100" dirty="0">
                <a:solidFill>
                  <a:srgbClr val="475569"/>
                </a:solidFill>
                <a:latin typeface="Calibri" pitchFamily="34" charset="0"/>
                <a:ea typeface="Calibri" pitchFamily="34" charset="-122"/>
                <a:cs typeface="Calibri" pitchFamily="34" charset="-120"/>
              </a:rPr>
              <a:t>Expert or Admin publishes a job or internship</a:t>
            </a:r>
            <a:endParaRPr lang="en-US" sz="1100" dirty="0"/>
          </a:p>
        </p:txBody>
      </p:sp>
      <p:sp>
        <p:nvSpPr>
          <p:cNvPr id="10" name="Shape 8"/>
          <p:cNvSpPr/>
          <p:nvPr/>
        </p:nvSpPr>
        <p:spPr>
          <a:xfrm>
            <a:off x="2642616" y="3063240"/>
            <a:ext cx="146304" cy="201168"/>
          </a:xfrm>
          <a:prstGeom prst="rightArrow">
            <a:avLst/>
          </a:prstGeom>
          <a:solidFill>
            <a:srgbClr val="CBD5E1"/>
          </a:solidFill>
          <a:ln/>
        </p:spPr>
      </p:sp>
      <p:sp>
        <p:nvSpPr>
          <p:cNvPr id="11" name="Shape 9"/>
          <p:cNvSpPr/>
          <p:nvPr/>
        </p:nvSpPr>
        <p:spPr>
          <a:xfrm>
            <a:off x="2816352" y="2148840"/>
            <a:ext cx="2029968" cy="2148840"/>
          </a:xfrm>
          <a:prstGeom prst="roundRect">
            <a:avLst>
              <a:gd name="adj" fmla="val 360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2" name="Shape 10"/>
          <p:cNvSpPr/>
          <p:nvPr/>
        </p:nvSpPr>
        <p:spPr>
          <a:xfrm>
            <a:off x="3602736" y="2359152"/>
            <a:ext cx="457200" cy="457200"/>
          </a:xfrm>
          <a:prstGeom prst="ellipse">
            <a:avLst/>
          </a:prstGeom>
          <a:solidFill>
            <a:srgbClr val="22D3EE"/>
          </a:solidFill>
          <a:ln/>
        </p:spPr>
      </p:sp>
      <p:sp>
        <p:nvSpPr>
          <p:cNvPr id="13" name="Text 11"/>
          <p:cNvSpPr/>
          <p:nvPr/>
        </p:nvSpPr>
        <p:spPr>
          <a:xfrm>
            <a:off x="3602736" y="2359152"/>
            <a:ext cx="4572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2926080" y="2926080"/>
            <a:ext cx="1810512" cy="29260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Discover</a:t>
            </a:r>
            <a:endParaRPr lang="en-US" sz="1500" dirty="0"/>
          </a:p>
        </p:txBody>
      </p:sp>
      <p:sp>
        <p:nvSpPr>
          <p:cNvPr id="15" name="Text 13"/>
          <p:cNvSpPr/>
          <p:nvPr/>
        </p:nvSpPr>
        <p:spPr>
          <a:xfrm>
            <a:off x="2962656" y="3255264"/>
            <a:ext cx="1737360" cy="914400"/>
          </a:xfrm>
          <a:prstGeom prst="rect">
            <a:avLst/>
          </a:prstGeom>
          <a:noFill/>
          <a:ln/>
        </p:spPr>
        <p:txBody>
          <a:bodyPr wrap="square" lIns="0" tIns="0" rIns="0" bIns="0" rtlCol="0" anchor="ctr"/>
          <a:lstStyle/>
          <a:p>
            <a:pPr algn="ctr" indent="0" marL="0">
              <a:lnSpc>
                <a:spcPts val="1400"/>
              </a:lnSpc>
              <a:buNone/>
            </a:pPr>
            <a:r>
              <a:rPr lang="en-US" sz="1100" dirty="0">
                <a:solidFill>
                  <a:srgbClr val="475569"/>
                </a:solidFill>
                <a:latin typeface="Calibri" pitchFamily="34" charset="0"/>
                <a:ea typeface="Calibri" pitchFamily="34" charset="-122"/>
                <a:cs typeface="Calibri" pitchFamily="34" charset="-120"/>
              </a:rPr>
              <a:t>Filters by type, work mode and keyword</a:t>
            </a:r>
            <a:endParaRPr lang="en-US" sz="1100" dirty="0"/>
          </a:p>
        </p:txBody>
      </p:sp>
      <p:sp>
        <p:nvSpPr>
          <p:cNvPr id="16" name="Shape 14"/>
          <p:cNvSpPr/>
          <p:nvPr/>
        </p:nvSpPr>
        <p:spPr>
          <a:xfrm>
            <a:off x="4892040" y="3063240"/>
            <a:ext cx="146304" cy="201168"/>
          </a:xfrm>
          <a:prstGeom prst="rightArrow">
            <a:avLst/>
          </a:prstGeom>
          <a:solidFill>
            <a:srgbClr val="CBD5E1"/>
          </a:solidFill>
          <a:ln/>
        </p:spPr>
      </p:sp>
      <p:sp>
        <p:nvSpPr>
          <p:cNvPr id="17" name="Shape 15"/>
          <p:cNvSpPr/>
          <p:nvPr/>
        </p:nvSpPr>
        <p:spPr>
          <a:xfrm>
            <a:off x="5065776" y="2148840"/>
            <a:ext cx="2029968" cy="2148840"/>
          </a:xfrm>
          <a:prstGeom prst="roundRect">
            <a:avLst>
              <a:gd name="adj" fmla="val 360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8" name="Shape 16"/>
          <p:cNvSpPr/>
          <p:nvPr/>
        </p:nvSpPr>
        <p:spPr>
          <a:xfrm>
            <a:off x="5852160" y="2359152"/>
            <a:ext cx="457200" cy="457200"/>
          </a:xfrm>
          <a:prstGeom prst="ellipse">
            <a:avLst/>
          </a:prstGeom>
          <a:solidFill>
            <a:srgbClr val="22D3EE"/>
          </a:solidFill>
          <a:ln/>
        </p:spPr>
      </p:sp>
      <p:sp>
        <p:nvSpPr>
          <p:cNvPr id="19" name="Text 17"/>
          <p:cNvSpPr/>
          <p:nvPr/>
        </p:nvSpPr>
        <p:spPr>
          <a:xfrm>
            <a:off x="5852160" y="2359152"/>
            <a:ext cx="4572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5175504" y="2926080"/>
            <a:ext cx="1810512" cy="29260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Apply</a:t>
            </a:r>
            <a:endParaRPr lang="en-US" sz="1500" dirty="0"/>
          </a:p>
        </p:txBody>
      </p:sp>
      <p:sp>
        <p:nvSpPr>
          <p:cNvPr id="21" name="Text 19"/>
          <p:cNvSpPr/>
          <p:nvPr/>
        </p:nvSpPr>
        <p:spPr>
          <a:xfrm>
            <a:off x="5212080" y="3255264"/>
            <a:ext cx="1737360" cy="914400"/>
          </a:xfrm>
          <a:prstGeom prst="rect">
            <a:avLst/>
          </a:prstGeom>
          <a:noFill/>
          <a:ln/>
        </p:spPr>
        <p:txBody>
          <a:bodyPr wrap="square" lIns="0" tIns="0" rIns="0" bIns="0" rtlCol="0" anchor="ctr"/>
          <a:lstStyle/>
          <a:p>
            <a:pPr algn="ctr" indent="0" marL="0">
              <a:lnSpc>
                <a:spcPts val="1400"/>
              </a:lnSpc>
              <a:buNone/>
            </a:pPr>
            <a:r>
              <a:rPr lang="en-US" sz="1100" dirty="0">
                <a:solidFill>
                  <a:srgbClr val="475569"/>
                </a:solidFill>
                <a:latin typeface="Calibri" pitchFamily="34" charset="0"/>
                <a:ea typeface="Calibri" pitchFamily="34" charset="-122"/>
                <a:cs typeface="Calibri" pitchFamily="34" charset="-120"/>
              </a:rPr>
              <a:t>Cover letter plus optional CV (PDF/DOC, 4 MB)</a:t>
            </a:r>
            <a:endParaRPr lang="en-US" sz="1100" dirty="0"/>
          </a:p>
        </p:txBody>
      </p:sp>
      <p:sp>
        <p:nvSpPr>
          <p:cNvPr id="22" name="Shape 20"/>
          <p:cNvSpPr/>
          <p:nvPr/>
        </p:nvSpPr>
        <p:spPr>
          <a:xfrm>
            <a:off x="7141464" y="3063240"/>
            <a:ext cx="146304" cy="201168"/>
          </a:xfrm>
          <a:prstGeom prst="rightArrow">
            <a:avLst/>
          </a:prstGeom>
          <a:solidFill>
            <a:srgbClr val="CBD5E1"/>
          </a:solidFill>
          <a:ln/>
        </p:spPr>
      </p:sp>
      <p:sp>
        <p:nvSpPr>
          <p:cNvPr id="23" name="Shape 21"/>
          <p:cNvSpPr/>
          <p:nvPr/>
        </p:nvSpPr>
        <p:spPr>
          <a:xfrm>
            <a:off x="7315200" y="2148840"/>
            <a:ext cx="2029968" cy="2148840"/>
          </a:xfrm>
          <a:prstGeom prst="roundRect">
            <a:avLst>
              <a:gd name="adj" fmla="val 360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24" name="Shape 22"/>
          <p:cNvSpPr/>
          <p:nvPr/>
        </p:nvSpPr>
        <p:spPr>
          <a:xfrm>
            <a:off x="8101584" y="2359152"/>
            <a:ext cx="457200" cy="457200"/>
          </a:xfrm>
          <a:prstGeom prst="ellipse">
            <a:avLst/>
          </a:prstGeom>
          <a:solidFill>
            <a:srgbClr val="22D3EE"/>
          </a:solidFill>
          <a:ln/>
        </p:spPr>
      </p:sp>
      <p:sp>
        <p:nvSpPr>
          <p:cNvPr id="25" name="Text 23"/>
          <p:cNvSpPr/>
          <p:nvPr/>
        </p:nvSpPr>
        <p:spPr>
          <a:xfrm>
            <a:off x="8101584" y="2359152"/>
            <a:ext cx="457200" cy="457200"/>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4</a:t>
            </a:r>
            <a:endParaRPr lang="en-US" sz="1500" dirty="0"/>
          </a:p>
        </p:txBody>
      </p:sp>
      <p:sp>
        <p:nvSpPr>
          <p:cNvPr id="26" name="Text 24"/>
          <p:cNvSpPr/>
          <p:nvPr/>
        </p:nvSpPr>
        <p:spPr>
          <a:xfrm>
            <a:off x="7424928" y="2926080"/>
            <a:ext cx="1810512" cy="29260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Review</a:t>
            </a:r>
            <a:endParaRPr lang="en-US" sz="1500" dirty="0"/>
          </a:p>
        </p:txBody>
      </p:sp>
      <p:sp>
        <p:nvSpPr>
          <p:cNvPr id="27" name="Text 25"/>
          <p:cNvSpPr/>
          <p:nvPr/>
        </p:nvSpPr>
        <p:spPr>
          <a:xfrm>
            <a:off x="7461504" y="3255264"/>
            <a:ext cx="1737360" cy="914400"/>
          </a:xfrm>
          <a:prstGeom prst="rect">
            <a:avLst/>
          </a:prstGeom>
          <a:noFill/>
          <a:ln/>
        </p:spPr>
        <p:txBody>
          <a:bodyPr wrap="square" lIns="0" tIns="0" rIns="0" bIns="0" rtlCol="0" anchor="ctr"/>
          <a:lstStyle/>
          <a:p>
            <a:pPr algn="ctr" indent="0" marL="0">
              <a:lnSpc>
                <a:spcPts val="1400"/>
              </a:lnSpc>
              <a:buNone/>
            </a:pPr>
            <a:r>
              <a:rPr lang="en-US" sz="1100" dirty="0">
                <a:solidFill>
                  <a:srgbClr val="475569"/>
                </a:solidFill>
                <a:latin typeface="Calibri" pitchFamily="34" charset="0"/>
                <a:ea typeface="Calibri" pitchFamily="34" charset="-122"/>
                <a:cs typeface="Calibri" pitchFamily="34" charset="-120"/>
              </a:rPr>
              <a:t>Employer reads letters and downloads CVs</a:t>
            </a:r>
            <a:endParaRPr lang="en-US" sz="1100" dirty="0"/>
          </a:p>
        </p:txBody>
      </p:sp>
      <p:sp>
        <p:nvSpPr>
          <p:cNvPr id="28" name="Shape 26"/>
          <p:cNvSpPr/>
          <p:nvPr/>
        </p:nvSpPr>
        <p:spPr>
          <a:xfrm>
            <a:off x="9390888" y="3063240"/>
            <a:ext cx="146304" cy="201168"/>
          </a:xfrm>
          <a:prstGeom prst="rightArrow">
            <a:avLst/>
          </a:prstGeom>
          <a:solidFill>
            <a:srgbClr val="CBD5E1"/>
          </a:solidFill>
          <a:ln/>
        </p:spPr>
      </p:sp>
      <p:sp>
        <p:nvSpPr>
          <p:cNvPr id="29" name="Shape 27"/>
          <p:cNvSpPr/>
          <p:nvPr/>
        </p:nvSpPr>
        <p:spPr>
          <a:xfrm>
            <a:off x="9564624" y="2148840"/>
            <a:ext cx="2029968" cy="2148840"/>
          </a:xfrm>
          <a:prstGeom prst="roundRect">
            <a:avLst>
              <a:gd name="adj" fmla="val 360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30" name="Shape 28"/>
          <p:cNvSpPr/>
          <p:nvPr/>
        </p:nvSpPr>
        <p:spPr>
          <a:xfrm>
            <a:off x="10351008" y="2359152"/>
            <a:ext cx="457200" cy="457200"/>
          </a:xfrm>
          <a:prstGeom prst="ellipse">
            <a:avLst/>
          </a:prstGeom>
          <a:solidFill>
            <a:srgbClr val="15803D"/>
          </a:solidFill>
          <a:ln/>
        </p:spPr>
      </p:sp>
      <p:sp>
        <p:nvSpPr>
          <p:cNvPr id="31" name="Text 29"/>
          <p:cNvSpPr/>
          <p:nvPr/>
        </p:nvSpPr>
        <p:spPr>
          <a:xfrm>
            <a:off x="10351008" y="23591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30"/>
          <p:cNvSpPr/>
          <p:nvPr/>
        </p:nvSpPr>
        <p:spPr>
          <a:xfrm>
            <a:off x="9674352" y="2926080"/>
            <a:ext cx="1810512" cy="292608"/>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Decide</a:t>
            </a:r>
            <a:endParaRPr lang="en-US" sz="1500" dirty="0"/>
          </a:p>
        </p:txBody>
      </p:sp>
      <p:sp>
        <p:nvSpPr>
          <p:cNvPr id="33" name="Text 31"/>
          <p:cNvSpPr/>
          <p:nvPr/>
        </p:nvSpPr>
        <p:spPr>
          <a:xfrm>
            <a:off x="9710928" y="3255264"/>
            <a:ext cx="1737360" cy="914400"/>
          </a:xfrm>
          <a:prstGeom prst="rect">
            <a:avLst/>
          </a:prstGeom>
          <a:noFill/>
          <a:ln/>
        </p:spPr>
        <p:txBody>
          <a:bodyPr wrap="square" lIns="0" tIns="0" rIns="0" bIns="0" rtlCol="0" anchor="ctr"/>
          <a:lstStyle/>
          <a:p>
            <a:pPr algn="ctr" indent="0" marL="0">
              <a:lnSpc>
                <a:spcPts val="1400"/>
              </a:lnSpc>
              <a:buNone/>
            </a:pPr>
            <a:r>
              <a:rPr lang="en-US" sz="1100" dirty="0">
                <a:solidFill>
                  <a:srgbClr val="475569"/>
                </a:solidFill>
                <a:latin typeface="Calibri" pitchFamily="34" charset="0"/>
                <a:ea typeface="Calibri" pitchFamily="34" charset="-122"/>
                <a:cs typeface="Calibri" pitchFamily="34" charset="-120"/>
              </a:rPr>
              <a:t>pending → reviewed → shortlisted → accepted</a:t>
            </a:r>
            <a:endParaRPr lang="en-US" sz="1100" dirty="0"/>
          </a:p>
        </p:txBody>
      </p:sp>
      <p:sp>
        <p:nvSpPr>
          <p:cNvPr id="34" name="Text 32"/>
          <p:cNvSpPr/>
          <p:nvPr/>
        </p:nvSpPr>
        <p:spPr>
          <a:xfrm>
            <a:off x="566928" y="4709160"/>
            <a:ext cx="3566160" cy="274320"/>
          </a:xfrm>
          <a:prstGeom prst="rect">
            <a:avLst/>
          </a:prstGeom>
          <a:noFill/>
          <a:ln/>
        </p:spPr>
        <p:txBody>
          <a:bodyPr wrap="square" lIns="0" tIns="0" rIns="0" bIns="0" rtlCol="0" anchor="ctr"/>
          <a:lstStyle/>
          <a:p>
            <a:pPr indent="0" marL="0">
              <a:buNone/>
            </a:pPr>
            <a:r>
              <a:rPr lang="en-US" sz="1350" b="1" dirty="0">
                <a:solidFill>
                  <a:srgbClr val="0E7490"/>
                </a:solidFill>
                <a:latin typeface="Calibri" pitchFamily="34" charset="0"/>
                <a:ea typeface="Calibri" pitchFamily="34" charset="-122"/>
                <a:cs typeface="Calibri" pitchFamily="34" charset="-120"/>
              </a:rPr>
              <a:t>Publishing is role-gated</a:t>
            </a:r>
            <a:endParaRPr lang="en-US" sz="1350" dirty="0"/>
          </a:p>
        </p:txBody>
      </p:sp>
      <p:sp>
        <p:nvSpPr>
          <p:cNvPr id="35" name="Text 33"/>
          <p:cNvSpPr/>
          <p:nvPr/>
        </p:nvSpPr>
        <p:spPr>
          <a:xfrm>
            <a:off x="566928" y="4992624"/>
            <a:ext cx="3566160" cy="548640"/>
          </a:xfrm>
          <a:prstGeom prst="rect">
            <a:avLst/>
          </a:prstGeom>
          <a:noFill/>
          <a:ln/>
        </p:spPr>
        <p:txBody>
          <a:bodyPr wrap="square" lIns="0" tIns="0" rIns="0" bIns="0" rtlCol="0" anchor="ctr"/>
          <a:lstStyle/>
          <a:p>
            <a:pPr indent="0" marL="0">
              <a:lnSpc>
                <a:spcPts val="1400"/>
              </a:lnSpc>
              <a:buNone/>
            </a:pPr>
            <a:r>
              <a:rPr lang="en-US" sz="1150" dirty="0">
                <a:solidFill>
                  <a:srgbClr val="475569"/>
                </a:solidFill>
                <a:latin typeface="Calibri" pitchFamily="34" charset="0"/>
                <a:ea typeface="Calibri" pitchFamily="34" charset="-122"/>
                <a:cs typeface="Calibri" pitchFamily="34" charset="-120"/>
              </a:rPr>
              <a:t>Only Administrators and Experts reach the posting routes</a:t>
            </a:r>
            <a:endParaRPr lang="en-US" sz="1150" dirty="0"/>
          </a:p>
        </p:txBody>
      </p:sp>
      <p:sp>
        <p:nvSpPr>
          <p:cNvPr id="36" name="Text 34"/>
          <p:cNvSpPr/>
          <p:nvPr/>
        </p:nvSpPr>
        <p:spPr>
          <a:xfrm>
            <a:off x="4361688" y="4709160"/>
            <a:ext cx="3566160" cy="274320"/>
          </a:xfrm>
          <a:prstGeom prst="rect">
            <a:avLst/>
          </a:prstGeom>
          <a:noFill/>
          <a:ln/>
        </p:spPr>
        <p:txBody>
          <a:bodyPr wrap="square" lIns="0" tIns="0" rIns="0" bIns="0" rtlCol="0" anchor="ctr"/>
          <a:lstStyle/>
          <a:p>
            <a:pPr indent="0" marL="0">
              <a:buNone/>
            </a:pPr>
            <a:r>
              <a:rPr lang="en-US" sz="1350" b="1" dirty="0">
                <a:solidFill>
                  <a:srgbClr val="0E7490"/>
                </a:solidFill>
                <a:latin typeface="Calibri" pitchFamily="34" charset="0"/>
                <a:ea typeface="Calibri" pitchFamily="34" charset="-122"/>
                <a:cs typeface="Calibri" pitchFamily="34" charset="-120"/>
              </a:rPr>
              <a:t>No duplicate applications</a:t>
            </a:r>
            <a:endParaRPr lang="en-US" sz="1350" dirty="0"/>
          </a:p>
        </p:txBody>
      </p:sp>
      <p:sp>
        <p:nvSpPr>
          <p:cNvPr id="37" name="Text 35"/>
          <p:cNvSpPr/>
          <p:nvPr/>
        </p:nvSpPr>
        <p:spPr>
          <a:xfrm>
            <a:off x="4361688" y="4992624"/>
            <a:ext cx="3566160" cy="548640"/>
          </a:xfrm>
          <a:prstGeom prst="rect">
            <a:avLst/>
          </a:prstGeom>
          <a:noFill/>
          <a:ln/>
        </p:spPr>
        <p:txBody>
          <a:bodyPr wrap="square" lIns="0" tIns="0" rIns="0" bIns="0" rtlCol="0" anchor="ctr"/>
          <a:lstStyle/>
          <a:p>
            <a:pPr indent="0" marL="0">
              <a:lnSpc>
                <a:spcPts val="1400"/>
              </a:lnSpc>
              <a:buNone/>
            </a:pPr>
            <a:r>
              <a:rPr lang="en-US" sz="1150" dirty="0">
                <a:solidFill>
                  <a:srgbClr val="475569"/>
                </a:solidFill>
                <a:latin typeface="Calibri" pitchFamily="34" charset="0"/>
                <a:ea typeface="Calibri" pitchFamily="34" charset="-122"/>
                <a:cs typeface="Calibri" pitchFamily="34" charset="-120"/>
              </a:rPr>
              <a:t>Enforced by a unique database index, not just by application code</a:t>
            </a:r>
            <a:endParaRPr lang="en-US" sz="1150" dirty="0"/>
          </a:p>
        </p:txBody>
      </p:sp>
      <p:sp>
        <p:nvSpPr>
          <p:cNvPr id="38" name="Text 36"/>
          <p:cNvSpPr/>
          <p:nvPr/>
        </p:nvSpPr>
        <p:spPr>
          <a:xfrm>
            <a:off x="8156448" y="4709160"/>
            <a:ext cx="3566160" cy="274320"/>
          </a:xfrm>
          <a:prstGeom prst="rect">
            <a:avLst/>
          </a:prstGeom>
          <a:noFill/>
          <a:ln/>
        </p:spPr>
        <p:txBody>
          <a:bodyPr wrap="square" lIns="0" tIns="0" rIns="0" bIns="0" rtlCol="0" anchor="ctr"/>
          <a:lstStyle/>
          <a:p>
            <a:pPr indent="0" marL="0">
              <a:buNone/>
            </a:pPr>
            <a:r>
              <a:rPr lang="en-US" sz="1350" b="1" dirty="0">
                <a:solidFill>
                  <a:srgbClr val="0E7490"/>
                </a:solidFill>
                <a:latin typeface="Calibri" pitchFamily="34" charset="0"/>
                <a:ea typeface="Calibri" pitchFamily="34" charset="-122"/>
                <a:cs typeface="Calibri" pitchFamily="34" charset="-120"/>
              </a:rPr>
              <a:t>Withdrawal deletes the CV</a:t>
            </a:r>
            <a:endParaRPr lang="en-US" sz="1350" dirty="0"/>
          </a:p>
        </p:txBody>
      </p:sp>
      <p:sp>
        <p:nvSpPr>
          <p:cNvPr id="39" name="Text 37"/>
          <p:cNvSpPr/>
          <p:nvPr/>
        </p:nvSpPr>
        <p:spPr>
          <a:xfrm>
            <a:off x="8156448" y="4992624"/>
            <a:ext cx="3566160" cy="548640"/>
          </a:xfrm>
          <a:prstGeom prst="rect">
            <a:avLst/>
          </a:prstGeom>
          <a:noFill/>
          <a:ln/>
        </p:spPr>
        <p:txBody>
          <a:bodyPr wrap="square" lIns="0" tIns="0" rIns="0" bIns="0" rtlCol="0" anchor="ctr"/>
          <a:lstStyle/>
          <a:p>
            <a:pPr indent="0" marL="0">
              <a:lnSpc>
                <a:spcPts val="1400"/>
              </a:lnSpc>
              <a:buNone/>
            </a:pPr>
            <a:r>
              <a:rPr lang="en-US" sz="1150" dirty="0">
                <a:solidFill>
                  <a:srgbClr val="475569"/>
                </a:solidFill>
                <a:latin typeface="Calibri" pitchFamily="34" charset="0"/>
                <a:ea typeface="Calibri" pitchFamily="34" charset="-122"/>
                <a:cs typeface="Calibri" pitchFamily="34" charset="-120"/>
              </a:rPr>
              <a:t>Storage is cleaned up when an applicant withdraws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058400" cy="237744"/>
          </a:xfrm>
          <a:prstGeom prst="rect">
            <a:avLst/>
          </a:prstGeom>
          <a:noFill/>
          <a:ln/>
        </p:spPr>
        <p:txBody>
          <a:bodyPr wrap="square" lIns="0" tIns="0" rIns="0" bIns="0" rtlCol="0" anchor="ctr"/>
          <a:lstStyle/>
          <a:p>
            <a:pPr indent="0" marL="0">
              <a:buNone/>
            </a:pPr>
            <a:r>
              <a:rPr lang="en-US" sz="1200" b="1" spc="200" kern="0" dirty="0">
                <a:solidFill>
                  <a:srgbClr val="0E7490"/>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Three tiers, one request path</a:t>
            </a:r>
            <a:endParaRPr lang="en-US" sz="3200" dirty="0"/>
          </a:p>
        </p:txBody>
      </p:sp>
      <p:pic>
        <p:nvPicPr>
          <p:cNvPr id="4" name="Image 0" descr="/home/claude/deliverables/docs/diagrams/07-architecture-wide.png">    </p:cNvPr>
          <p:cNvPicPr>
            <a:picLocks noChangeAspect="1"/>
          </p:cNvPicPr>
          <p:nvPr/>
        </p:nvPicPr>
        <p:blipFill>
          <a:blip r:embed="rId1"/>
          <a:stretch>
            <a:fillRect/>
          </a:stretch>
        </p:blipFill>
        <p:spPr>
          <a:xfrm>
            <a:off x="457200" y="1481328"/>
            <a:ext cx="11247120" cy="2825496"/>
          </a:xfrm>
          <a:prstGeom prst="rect">
            <a:avLst/>
          </a:prstGeom>
        </p:spPr>
      </p:pic>
      <p:sp>
        <p:nvSpPr>
          <p:cNvPr id="5" name="Shape 2"/>
          <p:cNvSpPr/>
          <p:nvPr/>
        </p:nvSpPr>
        <p:spPr>
          <a:xfrm>
            <a:off x="566928" y="4617720"/>
            <a:ext cx="3566160" cy="1417320"/>
          </a:xfrm>
          <a:prstGeom prst="roundRect">
            <a:avLst>
              <a:gd name="adj" fmla="val 5161"/>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6" name="Text 3"/>
          <p:cNvSpPr/>
          <p:nvPr/>
        </p:nvSpPr>
        <p:spPr>
          <a:xfrm>
            <a:off x="786384" y="4791456"/>
            <a:ext cx="3154680" cy="27432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Routes grouped by module</a:t>
            </a:r>
            <a:endParaRPr lang="en-US" sz="1350" dirty="0"/>
          </a:p>
        </p:txBody>
      </p:sp>
      <p:sp>
        <p:nvSpPr>
          <p:cNvPr id="7" name="Text 4"/>
          <p:cNvSpPr/>
          <p:nvPr/>
        </p:nvSpPr>
        <p:spPr>
          <a:xfrm>
            <a:off x="786384" y="5084064"/>
            <a:ext cx="3154680" cy="777240"/>
          </a:xfrm>
          <a:prstGeom prst="rect">
            <a:avLst/>
          </a:prstGeom>
          <a:noFill/>
          <a:ln/>
        </p:spPr>
        <p:txBody>
          <a:bodyPr wrap="square" lIns="0" tIns="0" rIns="0" bIns="0" rtlCol="0" anchor="ctr"/>
          <a:lstStyle/>
          <a:p>
            <a:pPr indent="0" marL="0">
              <a:lnSpc>
                <a:spcPts val="1400"/>
              </a:lnSpc>
              <a:buNone/>
            </a:pPr>
            <a:r>
              <a:rPr lang="en-US" sz="1150" dirty="0">
                <a:solidFill>
                  <a:srgbClr val="475569"/>
                </a:solidFill>
                <a:latin typeface="Calibri" pitchFamily="34" charset="0"/>
                <a:ea typeface="Calibri" pitchFamily="34" charset="-122"/>
                <a:cs typeface="Calibri" pitchFamily="34" charset="-120"/>
              </a:rPr>
              <a:t>routes/web.php reads as a map of the six modules</a:t>
            </a:r>
            <a:endParaRPr lang="en-US" sz="1150" dirty="0"/>
          </a:p>
        </p:txBody>
      </p:sp>
      <p:sp>
        <p:nvSpPr>
          <p:cNvPr id="8" name="Shape 5"/>
          <p:cNvSpPr/>
          <p:nvPr/>
        </p:nvSpPr>
        <p:spPr>
          <a:xfrm>
            <a:off x="4361688" y="4617720"/>
            <a:ext cx="3566160" cy="1417320"/>
          </a:xfrm>
          <a:prstGeom prst="roundRect">
            <a:avLst>
              <a:gd name="adj" fmla="val 5161"/>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9" name="Text 6"/>
          <p:cNvSpPr/>
          <p:nvPr/>
        </p:nvSpPr>
        <p:spPr>
          <a:xfrm>
            <a:off x="4581144" y="4791456"/>
            <a:ext cx="3154680" cy="27432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Middleware before controllers</a:t>
            </a:r>
            <a:endParaRPr lang="en-US" sz="1350" dirty="0"/>
          </a:p>
        </p:txBody>
      </p:sp>
      <p:sp>
        <p:nvSpPr>
          <p:cNvPr id="10" name="Text 7"/>
          <p:cNvSpPr/>
          <p:nvPr/>
        </p:nvSpPr>
        <p:spPr>
          <a:xfrm>
            <a:off x="4581144" y="5084064"/>
            <a:ext cx="3154680" cy="777240"/>
          </a:xfrm>
          <a:prstGeom prst="rect">
            <a:avLst/>
          </a:prstGeom>
          <a:noFill/>
          <a:ln/>
        </p:spPr>
        <p:txBody>
          <a:bodyPr wrap="square" lIns="0" tIns="0" rIns="0" bIns="0" rtlCol="0" anchor="ctr"/>
          <a:lstStyle/>
          <a:p>
            <a:pPr indent="0" marL="0">
              <a:lnSpc>
                <a:spcPts val="1400"/>
              </a:lnSpc>
              <a:buNone/>
            </a:pPr>
            <a:r>
              <a:rPr lang="en-US" sz="1150" dirty="0">
                <a:solidFill>
                  <a:srgbClr val="475569"/>
                </a:solidFill>
                <a:latin typeface="Calibri" pitchFamily="34" charset="0"/>
                <a:ea typeface="Calibri" pitchFamily="34" charset="-122"/>
                <a:cs typeface="Calibri" pitchFamily="34" charset="-120"/>
              </a:rPr>
              <a:t>Session, CSRF, role and account-status checks run first</a:t>
            </a:r>
            <a:endParaRPr lang="en-US" sz="1150" dirty="0"/>
          </a:p>
        </p:txBody>
      </p:sp>
      <p:sp>
        <p:nvSpPr>
          <p:cNvPr id="11" name="Shape 8"/>
          <p:cNvSpPr/>
          <p:nvPr/>
        </p:nvSpPr>
        <p:spPr>
          <a:xfrm>
            <a:off x="8156448" y="4617720"/>
            <a:ext cx="3566160" cy="1417320"/>
          </a:xfrm>
          <a:prstGeom prst="roundRect">
            <a:avLst>
              <a:gd name="adj" fmla="val 5161"/>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2" name="Text 9"/>
          <p:cNvSpPr/>
          <p:nvPr/>
        </p:nvSpPr>
        <p:spPr>
          <a:xfrm>
            <a:off x="8375904" y="4791456"/>
            <a:ext cx="3154680" cy="274320"/>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Models own the data</a:t>
            </a:r>
            <a:endParaRPr lang="en-US" sz="1350" dirty="0"/>
          </a:p>
        </p:txBody>
      </p:sp>
      <p:sp>
        <p:nvSpPr>
          <p:cNvPr id="13" name="Text 10"/>
          <p:cNvSpPr/>
          <p:nvPr/>
        </p:nvSpPr>
        <p:spPr>
          <a:xfrm>
            <a:off x="8375904" y="5084064"/>
            <a:ext cx="3154680" cy="777240"/>
          </a:xfrm>
          <a:prstGeom prst="rect">
            <a:avLst/>
          </a:prstGeom>
          <a:noFill/>
          <a:ln/>
        </p:spPr>
        <p:txBody>
          <a:bodyPr wrap="square" lIns="0" tIns="0" rIns="0" bIns="0" rtlCol="0" anchor="ctr"/>
          <a:lstStyle/>
          <a:p>
            <a:pPr indent="0" marL="0">
              <a:lnSpc>
                <a:spcPts val="1400"/>
              </a:lnSpc>
              <a:buNone/>
            </a:pPr>
            <a:r>
              <a:rPr lang="en-US" sz="1150" dirty="0">
                <a:solidFill>
                  <a:srgbClr val="475569"/>
                </a:solidFill>
                <a:latin typeface="Calibri" pitchFamily="34" charset="0"/>
                <a:ea typeface="Calibri" pitchFamily="34" charset="-122"/>
                <a:cs typeface="Calibri" pitchFamily="34" charset="-120"/>
              </a:rPr>
              <a:t>Eloquent relationships express the domain; no raw SQL in controllers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058400" cy="237744"/>
          </a:xfrm>
          <a:prstGeom prst="rect">
            <a:avLst/>
          </a:prstGeom>
          <a:noFill/>
          <a:ln/>
        </p:spPr>
        <p:txBody>
          <a:bodyPr wrap="square" lIns="0" tIns="0" rIns="0" bIns="0" rtlCol="0" anchor="ctr"/>
          <a:lstStyle/>
          <a:p>
            <a:pPr indent="0" marL="0">
              <a:buNone/>
            </a:pPr>
            <a:r>
              <a:rPr lang="en-US" sz="1200" b="1" spc="200" kern="0" dirty="0">
                <a:solidFill>
                  <a:srgbClr val="0E7490"/>
                </a:solidFill>
                <a:latin typeface="Calibri" pitchFamily="34" charset="0"/>
                <a:ea typeface="Calibri" pitchFamily="34" charset="-122"/>
                <a:cs typeface="Calibri" pitchFamily="34" charset="-120"/>
              </a:rPr>
              <a:t>DATABASE DESIGN</a:t>
            </a:r>
            <a:endParaRPr lang="en-US" sz="120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Eleven tables, integrity enforced in the schema</a:t>
            </a:r>
            <a:endParaRPr lang="en-US" sz="3200" dirty="0"/>
          </a:p>
        </p:txBody>
      </p:sp>
      <p:pic>
        <p:nvPicPr>
          <p:cNvPr id="4" name="Image 0" descr="/home/claude/deliverables/docs/diagrams/01-erd.png">    </p:cNvPr>
          <p:cNvPicPr>
            <a:picLocks noChangeAspect="1"/>
          </p:cNvPicPr>
          <p:nvPr/>
        </p:nvPicPr>
        <p:blipFill>
          <a:blip r:embed="rId1"/>
          <a:stretch>
            <a:fillRect/>
          </a:stretch>
        </p:blipFill>
        <p:spPr>
          <a:xfrm>
            <a:off x="457200" y="1463040"/>
            <a:ext cx="6858000" cy="4315968"/>
          </a:xfrm>
          <a:prstGeom prst="rect">
            <a:avLst/>
          </a:prstGeom>
        </p:spPr>
      </p:pic>
      <p:sp>
        <p:nvSpPr>
          <p:cNvPr id="5" name="Text 2"/>
          <p:cNvSpPr/>
          <p:nvPr/>
        </p:nvSpPr>
        <p:spPr>
          <a:xfrm>
            <a:off x="457200" y="5797296"/>
            <a:ext cx="6858000" cy="25603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Full-resolution ERD: /docs/diagrams/01-erd.png  ·  DDL: /schema/aqdesk_schema.sql</a:t>
            </a:r>
            <a:endParaRPr lang="en-US" sz="1050" dirty="0"/>
          </a:p>
        </p:txBody>
      </p:sp>
      <p:sp>
        <p:nvSpPr>
          <p:cNvPr id="6" name="Shape 3"/>
          <p:cNvSpPr/>
          <p:nvPr/>
        </p:nvSpPr>
        <p:spPr>
          <a:xfrm>
            <a:off x="7589520" y="1463040"/>
            <a:ext cx="4005072" cy="4572000"/>
          </a:xfrm>
          <a:prstGeom prst="roundRect">
            <a:avLst>
              <a:gd name="adj" fmla="val 1826"/>
            </a:avLst>
          </a:prstGeom>
          <a:solidFill>
            <a:srgbClr val="0F172A"/>
          </a:solidFill>
          <a:ln w="12700">
            <a:solidFill>
              <a:srgbClr val="0F172A"/>
            </a:solidFill>
            <a:prstDash val="solid"/>
          </a:ln>
          <a:effectLst>
            <a:outerShdw sx="100000" sy="100000" kx="0" ky="0" algn="bl" rotWithShape="0" blurRad="101600" dist="25400" dir="5400000">
              <a:srgbClr val="94A3B8">
                <a:alpha val="28000"/>
              </a:srgbClr>
            </a:outerShdw>
          </a:effectLst>
        </p:spPr>
      </p:sp>
      <p:sp>
        <p:nvSpPr>
          <p:cNvPr id="7" name="Text 4"/>
          <p:cNvSpPr/>
          <p:nvPr/>
        </p:nvSpPr>
        <p:spPr>
          <a:xfrm>
            <a:off x="7863840" y="1691640"/>
            <a:ext cx="3474720" cy="274320"/>
          </a:xfrm>
          <a:prstGeom prst="rect">
            <a:avLst/>
          </a:prstGeom>
          <a:noFill/>
          <a:ln/>
        </p:spPr>
        <p:txBody>
          <a:bodyPr wrap="square" lIns="0" tIns="0" rIns="0" bIns="0" rtlCol="0" anchor="ctr"/>
          <a:lstStyle/>
          <a:p>
            <a:pPr indent="0" marL="0">
              <a:buNone/>
            </a:pPr>
            <a:r>
              <a:rPr lang="en-US" sz="1150" b="1" spc="150" kern="0" dirty="0">
                <a:solidFill>
                  <a:srgbClr val="22D3EE"/>
                </a:solidFill>
                <a:latin typeface="Calibri" pitchFamily="34" charset="0"/>
                <a:ea typeface="Calibri" pitchFamily="34" charset="-122"/>
                <a:cs typeface="Calibri" pitchFamily="34" charset="-120"/>
              </a:rPr>
              <a:t>CONSTRAINTS THAT MATTER</a:t>
            </a:r>
            <a:endParaRPr lang="en-US" sz="1150" dirty="0"/>
          </a:p>
        </p:txBody>
      </p:sp>
      <p:sp>
        <p:nvSpPr>
          <p:cNvPr id="8" name="Text 5"/>
          <p:cNvSpPr/>
          <p:nvPr/>
        </p:nvSpPr>
        <p:spPr>
          <a:xfrm>
            <a:off x="7863840" y="2148840"/>
            <a:ext cx="347472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Cascade deletes</a:t>
            </a:r>
            <a:endParaRPr lang="en-US" sz="1300" dirty="0"/>
          </a:p>
        </p:txBody>
      </p:sp>
      <p:sp>
        <p:nvSpPr>
          <p:cNvPr id="9" name="Text 6"/>
          <p:cNvSpPr/>
          <p:nvPr/>
        </p:nvSpPr>
        <p:spPr>
          <a:xfrm>
            <a:off x="7863840" y="2404872"/>
            <a:ext cx="3474720" cy="475488"/>
          </a:xfrm>
          <a:prstGeom prst="rect">
            <a:avLst/>
          </a:prstGeom>
          <a:noFill/>
          <a:ln/>
        </p:spPr>
        <p:txBody>
          <a:bodyPr wrap="square" lIns="0" tIns="0" rIns="0" bIns="0" rtlCol="0" anchor="ctr"/>
          <a:lstStyle/>
          <a:p>
            <a:pPr indent="0" marL="0">
              <a:lnSpc>
                <a:spcPts val="1300"/>
              </a:lnSpc>
              <a:buNone/>
            </a:pPr>
            <a:r>
              <a:rPr lang="en-US" sz="1050" dirty="0">
                <a:solidFill>
                  <a:srgbClr val="A9BACD"/>
                </a:solidFill>
                <a:latin typeface="Calibri" pitchFamily="34" charset="0"/>
                <a:ea typeface="Calibri" pitchFamily="34" charset="-122"/>
                <a:cs typeface="Calibri" pitchFamily="34" charset="-120"/>
              </a:rPr>
              <a:t>Removing a question removes its answers, tags and votes — no orphan rows</a:t>
            </a:r>
            <a:endParaRPr lang="en-US" sz="1050" dirty="0"/>
          </a:p>
        </p:txBody>
      </p:sp>
      <p:sp>
        <p:nvSpPr>
          <p:cNvPr id="10" name="Text 7"/>
          <p:cNvSpPr/>
          <p:nvPr/>
        </p:nvSpPr>
        <p:spPr>
          <a:xfrm>
            <a:off x="7863840" y="2926080"/>
            <a:ext cx="347472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vote per user per item</a:t>
            </a:r>
            <a:endParaRPr lang="en-US" sz="1300" dirty="0"/>
          </a:p>
        </p:txBody>
      </p:sp>
      <p:sp>
        <p:nvSpPr>
          <p:cNvPr id="11" name="Text 8"/>
          <p:cNvSpPr/>
          <p:nvPr/>
        </p:nvSpPr>
        <p:spPr>
          <a:xfrm>
            <a:off x="7863840" y="3182112"/>
            <a:ext cx="3474720" cy="475488"/>
          </a:xfrm>
          <a:prstGeom prst="rect">
            <a:avLst/>
          </a:prstGeom>
          <a:noFill/>
          <a:ln/>
        </p:spPr>
        <p:txBody>
          <a:bodyPr wrap="square" lIns="0" tIns="0" rIns="0" bIns="0" rtlCol="0" anchor="ctr"/>
          <a:lstStyle/>
          <a:p>
            <a:pPr indent="0" marL="0">
              <a:lnSpc>
                <a:spcPts val="1300"/>
              </a:lnSpc>
              <a:buNone/>
            </a:pPr>
            <a:r>
              <a:rPr lang="en-US" sz="1050" dirty="0">
                <a:solidFill>
                  <a:srgbClr val="A9BACD"/>
                </a:solidFill>
                <a:latin typeface="Calibri" pitchFamily="34" charset="0"/>
                <a:ea typeface="Calibri" pitchFamily="34" charset="-122"/>
                <a:cs typeface="Calibri" pitchFamily="34" charset="-120"/>
              </a:rPr>
              <a:t>Unique index on user, votable id and votable type</a:t>
            </a:r>
            <a:endParaRPr lang="en-US" sz="1050" dirty="0"/>
          </a:p>
        </p:txBody>
      </p:sp>
      <p:sp>
        <p:nvSpPr>
          <p:cNvPr id="12" name="Text 9"/>
          <p:cNvSpPr/>
          <p:nvPr/>
        </p:nvSpPr>
        <p:spPr>
          <a:xfrm>
            <a:off x="7863840" y="3703320"/>
            <a:ext cx="347472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application per opportunity</a:t>
            </a:r>
            <a:endParaRPr lang="en-US" sz="1300" dirty="0"/>
          </a:p>
        </p:txBody>
      </p:sp>
      <p:sp>
        <p:nvSpPr>
          <p:cNvPr id="13" name="Text 10"/>
          <p:cNvSpPr/>
          <p:nvPr/>
        </p:nvSpPr>
        <p:spPr>
          <a:xfrm>
            <a:off x="7863840" y="3959352"/>
            <a:ext cx="3474720" cy="475488"/>
          </a:xfrm>
          <a:prstGeom prst="rect">
            <a:avLst/>
          </a:prstGeom>
          <a:noFill/>
          <a:ln/>
        </p:spPr>
        <p:txBody>
          <a:bodyPr wrap="square" lIns="0" tIns="0" rIns="0" bIns="0" rtlCol="0" anchor="ctr"/>
          <a:lstStyle/>
          <a:p>
            <a:pPr indent="0" marL="0">
              <a:lnSpc>
                <a:spcPts val="1300"/>
              </a:lnSpc>
              <a:buNone/>
            </a:pPr>
            <a:r>
              <a:rPr lang="en-US" sz="1050" dirty="0">
                <a:solidFill>
                  <a:srgbClr val="A9BACD"/>
                </a:solidFill>
                <a:latin typeface="Calibri" pitchFamily="34" charset="0"/>
                <a:ea typeface="Calibri" pitchFamily="34" charset="-122"/>
                <a:cs typeface="Calibri" pitchFamily="34" charset="-120"/>
              </a:rPr>
              <a:t>Unique index on job post and user</a:t>
            </a:r>
            <a:endParaRPr lang="en-US" sz="1050" dirty="0"/>
          </a:p>
        </p:txBody>
      </p:sp>
      <p:sp>
        <p:nvSpPr>
          <p:cNvPr id="14" name="Text 11"/>
          <p:cNvSpPr/>
          <p:nvPr/>
        </p:nvSpPr>
        <p:spPr>
          <a:xfrm>
            <a:off x="7863840" y="4480560"/>
            <a:ext cx="347472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Roles set null, never cascade</a:t>
            </a:r>
            <a:endParaRPr lang="en-US" sz="1300" dirty="0"/>
          </a:p>
        </p:txBody>
      </p:sp>
      <p:sp>
        <p:nvSpPr>
          <p:cNvPr id="15" name="Text 12"/>
          <p:cNvSpPr/>
          <p:nvPr/>
        </p:nvSpPr>
        <p:spPr>
          <a:xfrm>
            <a:off x="7863840" y="4736592"/>
            <a:ext cx="3474720" cy="475488"/>
          </a:xfrm>
          <a:prstGeom prst="rect">
            <a:avLst/>
          </a:prstGeom>
          <a:noFill/>
          <a:ln/>
        </p:spPr>
        <p:txBody>
          <a:bodyPr wrap="square" lIns="0" tIns="0" rIns="0" bIns="0" rtlCol="0" anchor="ctr"/>
          <a:lstStyle/>
          <a:p>
            <a:pPr indent="0" marL="0">
              <a:lnSpc>
                <a:spcPts val="1300"/>
              </a:lnSpc>
              <a:buNone/>
            </a:pPr>
            <a:r>
              <a:rPr lang="en-US" sz="1050" dirty="0">
                <a:solidFill>
                  <a:srgbClr val="A9BACD"/>
                </a:solidFill>
                <a:latin typeface="Calibri" pitchFamily="34" charset="0"/>
                <a:ea typeface="Calibri" pitchFamily="34" charset="-122"/>
                <a:cs typeface="Calibri" pitchFamily="34" charset="-120"/>
              </a:rPr>
              <a:t>Deleting a role can never destroy accounts</a:t>
            </a:r>
            <a:endParaRPr lang="en-US" sz="1050" dirty="0"/>
          </a:p>
        </p:txBody>
      </p:sp>
      <p:sp>
        <p:nvSpPr>
          <p:cNvPr id="16" name="Text 13"/>
          <p:cNvSpPr/>
          <p:nvPr/>
        </p:nvSpPr>
        <p:spPr>
          <a:xfrm>
            <a:off x="7863840" y="5257800"/>
            <a:ext cx="347472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Unique slugs</a:t>
            </a:r>
            <a:endParaRPr lang="en-US" sz="1300" dirty="0"/>
          </a:p>
        </p:txBody>
      </p:sp>
      <p:sp>
        <p:nvSpPr>
          <p:cNvPr id="17" name="Text 14"/>
          <p:cNvSpPr/>
          <p:nvPr/>
        </p:nvSpPr>
        <p:spPr>
          <a:xfrm>
            <a:off x="7863840" y="5513832"/>
            <a:ext cx="3474720" cy="475488"/>
          </a:xfrm>
          <a:prstGeom prst="rect">
            <a:avLst/>
          </a:prstGeom>
          <a:noFill/>
          <a:ln/>
        </p:spPr>
        <p:txBody>
          <a:bodyPr wrap="square" lIns="0" tIns="0" rIns="0" bIns="0" rtlCol="0" anchor="ctr"/>
          <a:lstStyle/>
          <a:p>
            <a:pPr indent="0" marL="0">
              <a:lnSpc>
                <a:spcPts val="1300"/>
              </a:lnSpc>
              <a:buNone/>
            </a:pPr>
            <a:r>
              <a:rPr lang="en-US" sz="1050" dirty="0">
                <a:solidFill>
                  <a:srgbClr val="A9BACD"/>
                </a:solidFill>
                <a:latin typeface="Calibri" pitchFamily="34" charset="0"/>
                <a:ea typeface="Calibri" pitchFamily="34" charset="-122"/>
                <a:cs typeface="Calibri" pitchFamily="34" charset="-120"/>
              </a:rPr>
              <a:t>Readable, stable URLs on questions and opportunities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058400" cy="237744"/>
          </a:xfrm>
          <a:prstGeom prst="rect">
            <a:avLst/>
          </a:prstGeom>
          <a:noFill/>
          <a:ln/>
        </p:spPr>
        <p:txBody>
          <a:bodyPr wrap="square" lIns="0" tIns="0" rIns="0" bIns="0" rtlCol="0" anchor="ctr"/>
          <a:lstStyle/>
          <a:p>
            <a:pPr indent="0" marL="0">
              <a:buNone/>
            </a:pPr>
            <a:r>
              <a:rPr lang="en-US" sz="1200" b="1" spc="200" kern="0" dirty="0">
                <a:solidFill>
                  <a:srgbClr val="0E7490"/>
                </a:solidFill>
                <a:latin typeface="Calibri" pitchFamily="34" charset="0"/>
                <a:ea typeface="Calibri" pitchFamily="34" charset="-122"/>
                <a:cs typeface="Calibri" pitchFamily="34" charset="-120"/>
              </a:rPr>
              <a:t>EVIDENCE</a:t>
            </a:r>
            <a:endParaRPr lang="en-US" sz="120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Measured against the stated quality requirement</a:t>
            </a:r>
            <a:endParaRPr lang="en-US" sz="3200" dirty="0"/>
          </a:p>
        </p:txBody>
      </p:sp>
      <p:sp>
        <p:nvSpPr>
          <p:cNvPr id="4" name="Shape 2"/>
          <p:cNvSpPr/>
          <p:nvPr/>
        </p:nvSpPr>
        <p:spPr>
          <a:xfrm>
            <a:off x="566928" y="1600200"/>
            <a:ext cx="2615184" cy="1691640"/>
          </a:xfrm>
          <a:prstGeom prst="roundRect">
            <a:avLst>
              <a:gd name="adj" fmla="val 432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5" name="Text 3"/>
          <p:cNvSpPr/>
          <p:nvPr/>
        </p:nvSpPr>
        <p:spPr>
          <a:xfrm>
            <a:off x="566928" y="1783080"/>
            <a:ext cx="2615184" cy="777240"/>
          </a:xfrm>
          <a:prstGeom prst="rect">
            <a:avLst/>
          </a:prstGeom>
          <a:noFill/>
          <a:ln/>
        </p:spPr>
        <p:txBody>
          <a:bodyPr wrap="square" lIns="0" tIns="0" rIns="0" bIns="0" rtlCol="0" anchor="ctr"/>
          <a:lstStyle/>
          <a:p>
            <a:pPr algn="ctr" indent="0" marL="0">
              <a:buNone/>
            </a:pPr>
            <a:r>
              <a:rPr lang="en-US" sz="4600" b="1" dirty="0">
                <a:solidFill>
                  <a:srgbClr val="0E7490"/>
                </a:solidFill>
                <a:latin typeface="Calibri" pitchFamily="34" charset="0"/>
                <a:ea typeface="Calibri" pitchFamily="34" charset="-122"/>
                <a:cs typeface="Calibri" pitchFamily="34" charset="-120"/>
              </a:rPr>
              <a:t>6 / 6</a:t>
            </a:r>
            <a:endParaRPr lang="en-US" sz="4600" dirty="0"/>
          </a:p>
        </p:txBody>
      </p:sp>
      <p:sp>
        <p:nvSpPr>
          <p:cNvPr id="6" name="Text 4"/>
          <p:cNvSpPr/>
          <p:nvPr/>
        </p:nvSpPr>
        <p:spPr>
          <a:xfrm>
            <a:off x="566928" y="2578608"/>
            <a:ext cx="2615184" cy="640080"/>
          </a:xfrm>
          <a:prstGeom prst="rect">
            <a:avLst/>
          </a:prstGeom>
          <a:noFill/>
          <a:ln/>
        </p:spPr>
        <p:txBody>
          <a:bodyPr wrap="square" lIns="0" tIns="0" rIns="0" bIns="0" rtlCol="0" anchor="ctr"/>
          <a:lstStyle/>
          <a:p>
            <a:pPr algn="ctr" indent="0" marL="0">
              <a:lnSpc>
                <a:spcPts val="1500"/>
              </a:lnSpc>
              <a:buNone/>
            </a:pPr>
            <a:r>
              <a:rPr lang="en-US" sz="1200" dirty="0">
                <a:solidFill>
                  <a:srgbClr val="64748B"/>
                </a:solidFill>
                <a:latin typeface="Calibri" pitchFamily="34" charset="0"/>
                <a:ea typeface="Calibri" pitchFamily="34" charset="-122"/>
                <a:cs typeface="Calibri" pitchFamily="34" charset="-120"/>
              </a:rPr>
              <a:t>mandatory modules</a:t>
            </a:r>
            <a:endParaRPr lang="en-US" sz="1200" dirty="0"/>
          </a:p>
          <a:p>
            <a:pPr algn="ctr" indent="0" marL="0">
              <a:lnSpc>
                <a:spcPts val="1500"/>
              </a:lnSpc>
              <a:buNone/>
            </a:pPr>
            <a:r>
              <a:rPr lang="en-US" sz="1200" dirty="0">
                <a:solidFill>
                  <a:srgbClr val="64748B"/>
                </a:solidFill>
                <a:latin typeface="Calibri" pitchFamily="34" charset="0"/>
                <a:ea typeface="Calibri" pitchFamily="34" charset="-122"/>
                <a:cs typeface="Calibri" pitchFamily="34" charset="-120"/>
              </a:rPr>
              <a:t>fully functional</a:t>
            </a:r>
            <a:endParaRPr lang="en-US" sz="1200" dirty="0"/>
          </a:p>
        </p:txBody>
      </p:sp>
      <p:sp>
        <p:nvSpPr>
          <p:cNvPr id="7" name="Shape 5"/>
          <p:cNvSpPr/>
          <p:nvPr/>
        </p:nvSpPr>
        <p:spPr>
          <a:xfrm>
            <a:off x="3401568" y="1600200"/>
            <a:ext cx="2615184" cy="1691640"/>
          </a:xfrm>
          <a:prstGeom prst="roundRect">
            <a:avLst>
              <a:gd name="adj" fmla="val 432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8" name="Text 6"/>
          <p:cNvSpPr/>
          <p:nvPr/>
        </p:nvSpPr>
        <p:spPr>
          <a:xfrm>
            <a:off x="3401568" y="1783080"/>
            <a:ext cx="2615184" cy="777240"/>
          </a:xfrm>
          <a:prstGeom prst="rect">
            <a:avLst/>
          </a:prstGeom>
          <a:noFill/>
          <a:ln/>
        </p:spPr>
        <p:txBody>
          <a:bodyPr wrap="square" lIns="0" tIns="0" rIns="0" bIns="0" rtlCol="0" anchor="ctr"/>
          <a:lstStyle/>
          <a:p>
            <a:pPr algn="ctr" indent="0" marL="0">
              <a:buNone/>
            </a:pPr>
            <a:r>
              <a:rPr lang="en-US" sz="4600" b="1" dirty="0">
                <a:solidFill>
                  <a:srgbClr val="0E7490"/>
                </a:solidFill>
                <a:latin typeface="Calibri" pitchFamily="34" charset="0"/>
                <a:ea typeface="Calibri" pitchFamily="34" charset="-122"/>
                <a:cs typeface="Calibri" pitchFamily="34" charset="-120"/>
              </a:rPr>
              <a:t>11</a:t>
            </a:r>
            <a:endParaRPr lang="en-US" sz="4600" dirty="0"/>
          </a:p>
        </p:txBody>
      </p:sp>
      <p:sp>
        <p:nvSpPr>
          <p:cNvPr id="9" name="Text 7"/>
          <p:cNvSpPr/>
          <p:nvPr/>
        </p:nvSpPr>
        <p:spPr>
          <a:xfrm>
            <a:off x="3401568" y="2578608"/>
            <a:ext cx="2615184" cy="640080"/>
          </a:xfrm>
          <a:prstGeom prst="rect">
            <a:avLst/>
          </a:prstGeom>
          <a:noFill/>
          <a:ln/>
        </p:spPr>
        <p:txBody>
          <a:bodyPr wrap="square" lIns="0" tIns="0" rIns="0" bIns="0" rtlCol="0" anchor="ctr"/>
          <a:lstStyle/>
          <a:p>
            <a:pPr algn="ctr" indent="0" marL="0">
              <a:lnSpc>
                <a:spcPts val="1500"/>
              </a:lnSpc>
              <a:buNone/>
            </a:pPr>
            <a:r>
              <a:rPr lang="en-US" sz="1200" dirty="0">
                <a:solidFill>
                  <a:srgbClr val="64748B"/>
                </a:solidFill>
                <a:latin typeface="Calibri" pitchFamily="34" charset="0"/>
                <a:ea typeface="Calibri" pitchFamily="34" charset="-122"/>
                <a:cs typeface="Calibri" pitchFamily="34" charset="-120"/>
              </a:rPr>
              <a:t>application tables</a:t>
            </a:r>
            <a:endParaRPr lang="en-US" sz="1200" dirty="0"/>
          </a:p>
          <a:p>
            <a:pPr algn="ctr" indent="0" marL="0">
              <a:lnSpc>
                <a:spcPts val="1500"/>
              </a:lnSpc>
              <a:buNone/>
            </a:pPr>
            <a:r>
              <a:rPr lang="en-US" sz="1200" dirty="0">
                <a:solidFill>
                  <a:srgbClr val="64748B"/>
                </a:solidFill>
                <a:latin typeface="Calibri" pitchFamily="34" charset="0"/>
                <a:ea typeface="Calibri" pitchFamily="34" charset="-122"/>
                <a:cs typeface="Calibri" pitchFamily="34" charset="-120"/>
              </a:rPr>
              <a:t>with full CRUD</a:t>
            </a:r>
            <a:endParaRPr lang="en-US" sz="1200" dirty="0"/>
          </a:p>
        </p:txBody>
      </p:sp>
      <p:sp>
        <p:nvSpPr>
          <p:cNvPr id="10" name="Shape 8"/>
          <p:cNvSpPr/>
          <p:nvPr/>
        </p:nvSpPr>
        <p:spPr>
          <a:xfrm>
            <a:off x="6236208" y="1600200"/>
            <a:ext cx="2615184" cy="1691640"/>
          </a:xfrm>
          <a:prstGeom prst="roundRect">
            <a:avLst>
              <a:gd name="adj" fmla="val 432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1" name="Text 9"/>
          <p:cNvSpPr/>
          <p:nvPr/>
        </p:nvSpPr>
        <p:spPr>
          <a:xfrm>
            <a:off x="6236208" y="1783080"/>
            <a:ext cx="2615184" cy="777240"/>
          </a:xfrm>
          <a:prstGeom prst="rect">
            <a:avLst/>
          </a:prstGeom>
          <a:noFill/>
          <a:ln/>
        </p:spPr>
        <p:txBody>
          <a:bodyPr wrap="square" lIns="0" tIns="0" rIns="0" bIns="0" rtlCol="0" anchor="ctr"/>
          <a:lstStyle/>
          <a:p>
            <a:pPr algn="ctr" indent="0" marL="0">
              <a:buNone/>
            </a:pPr>
            <a:r>
              <a:rPr lang="en-US" sz="4600" b="1" dirty="0">
                <a:solidFill>
                  <a:srgbClr val="0E7490"/>
                </a:solidFill>
                <a:latin typeface="Calibri" pitchFamily="34" charset="0"/>
                <a:ea typeface="Calibri" pitchFamily="34" charset="-122"/>
                <a:cs typeface="Calibri" pitchFamily="34" charset="-120"/>
              </a:rPr>
              <a:t>32</a:t>
            </a:r>
            <a:endParaRPr lang="en-US" sz="4600" dirty="0"/>
          </a:p>
        </p:txBody>
      </p:sp>
      <p:sp>
        <p:nvSpPr>
          <p:cNvPr id="12" name="Text 10"/>
          <p:cNvSpPr/>
          <p:nvPr/>
        </p:nvSpPr>
        <p:spPr>
          <a:xfrm>
            <a:off x="6236208" y="2578608"/>
            <a:ext cx="2615184" cy="640080"/>
          </a:xfrm>
          <a:prstGeom prst="rect">
            <a:avLst/>
          </a:prstGeom>
          <a:noFill/>
          <a:ln/>
        </p:spPr>
        <p:txBody>
          <a:bodyPr wrap="square" lIns="0" tIns="0" rIns="0" bIns="0" rtlCol="0" anchor="ctr"/>
          <a:lstStyle/>
          <a:p>
            <a:pPr algn="ctr" indent="0" marL="0">
              <a:lnSpc>
                <a:spcPts val="1500"/>
              </a:lnSpc>
              <a:buNone/>
            </a:pPr>
            <a:r>
              <a:rPr lang="en-US" sz="1200" dirty="0">
                <a:solidFill>
                  <a:srgbClr val="64748B"/>
                </a:solidFill>
                <a:latin typeface="Calibri" pitchFamily="34" charset="0"/>
                <a:ea typeface="Calibri" pitchFamily="34" charset="-122"/>
                <a:cs typeface="Calibri" pitchFamily="34" charset="-120"/>
              </a:rPr>
              <a:t>Blade templates</a:t>
            </a:r>
            <a:endParaRPr lang="en-US" sz="1200" dirty="0"/>
          </a:p>
        </p:txBody>
      </p:sp>
      <p:sp>
        <p:nvSpPr>
          <p:cNvPr id="13" name="Shape 11"/>
          <p:cNvSpPr/>
          <p:nvPr/>
        </p:nvSpPr>
        <p:spPr>
          <a:xfrm>
            <a:off x="9070848" y="1600200"/>
            <a:ext cx="2615184" cy="1691640"/>
          </a:xfrm>
          <a:prstGeom prst="roundRect">
            <a:avLst>
              <a:gd name="adj" fmla="val 4324"/>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4" name="Text 12"/>
          <p:cNvSpPr/>
          <p:nvPr/>
        </p:nvSpPr>
        <p:spPr>
          <a:xfrm>
            <a:off x="9070848" y="1783080"/>
            <a:ext cx="2615184" cy="777240"/>
          </a:xfrm>
          <a:prstGeom prst="rect">
            <a:avLst/>
          </a:prstGeom>
          <a:noFill/>
          <a:ln/>
        </p:spPr>
        <p:txBody>
          <a:bodyPr wrap="square" lIns="0" tIns="0" rIns="0" bIns="0" rtlCol="0" anchor="ctr"/>
          <a:lstStyle/>
          <a:p>
            <a:pPr algn="ctr" indent="0" marL="0">
              <a:buNone/>
            </a:pPr>
            <a:r>
              <a:rPr lang="en-US" sz="4600" b="1" dirty="0">
                <a:solidFill>
                  <a:srgbClr val="0E7490"/>
                </a:solidFill>
                <a:latin typeface="Calibri" pitchFamily="34" charset="0"/>
                <a:ea typeface="Calibri" pitchFamily="34" charset="-122"/>
                <a:cs typeface="Calibri" pitchFamily="34" charset="-120"/>
              </a:rPr>
              <a:t>0</a:t>
            </a:r>
            <a:endParaRPr lang="en-US" sz="4600" dirty="0"/>
          </a:p>
        </p:txBody>
      </p:sp>
      <p:sp>
        <p:nvSpPr>
          <p:cNvPr id="15" name="Text 13"/>
          <p:cNvSpPr/>
          <p:nvPr/>
        </p:nvSpPr>
        <p:spPr>
          <a:xfrm>
            <a:off x="9070848" y="2578608"/>
            <a:ext cx="2615184" cy="640080"/>
          </a:xfrm>
          <a:prstGeom prst="rect">
            <a:avLst/>
          </a:prstGeom>
          <a:noFill/>
          <a:ln/>
        </p:spPr>
        <p:txBody>
          <a:bodyPr wrap="square" lIns="0" tIns="0" rIns="0" bIns="0" rtlCol="0" anchor="ctr"/>
          <a:lstStyle/>
          <a:p>
            <a:pPr algn="ctr" indent="0" marL="0">
              <a:lnSpc>
                <a:spcPts val="1500"/>
              </a:lnSpc>
              <a:buNone/>
            </a:pPr>
            <a:r>
              <a:rPr lang="en-US" sz="1200" dirty="0">
                <a:solidFill>
                  <a:srgbClr val="64748B"/>
                </a:solidFill>
                <a:latin typeface="Calibri" pitchFamily="34" charset="0"/>
                <a:ea typeface="Calibri" pitchFamily="34" charset="-122"/>
                <a:cs typeface="Calibri" pitchFamily="34" charset="-120"/>
              </a:rPr>
              <a:t>npm dependencies</a:t>
            </a:r>
            <a:endParaRPr lang="en-US" sz="1200" dirty="0"/>
          </a:p>
        </p:txBody>
      </p:sp>
      <p:sp>
        <p:nvSpPr>
          <p:cNvPr id="16" name="Shape 14"/>
          <p:cNvSpPr/>
          <p:nvPr/>
        </p:nvSpPr>
        <p:spPr>
          <a:xfrm>
            <a:off x="566928" y="3611880"/>
            <a:ext cx="11027664" cy="576072"/>
          </a:xfrm>
          <a:prstGeom prst="roundRect">
            <a:avLst>
              <a:gd name="adj" fmla="val 7937"/>
            </a:avLst>
          </a:prstGeom>
          <a:solidFill>
            <a:srgbClr val="F8FAFC"/>
          </a:solidFill>
          <a:ln w="12700">
            <a:solidFill>
              <a:srgbClr val="E2E8F0"/>
            </a:solidFill>
            <a:prstDash val="solid"/>
          </a:ln>
        </p:spPr>
      </p:sp>
      <p:sp>
        <p:nvSpPr>
          <p:cNvPr id="17" name="Shape 15"/>
          <p:cNvSpPr/>
          <p:nvPr/>
        </p:nvSpPr>
        <p:spPr>
          <a:xfrm>
            <a:off x="768096" y="3785616"/>
            <a:ext cx="237744" cy="237744"/>
          </a:xfrm>
          <a:prstGeom prst="ellipse">
            <a:avLst/>
          </a:prstGeom>
          <a:solidFill>
            <a:srgbClr val="15803D"/>
          </a:solidFill>
          <a:ln/>
        </p:spPr>
      </p:sp>
      <p:sp>
        <p:nvSpPr>
          <p:cNvPr id="18" name="Text 16"/>
          <p:cNvSpPr/>
          <p:nvPr/>
        </p:nvSpPr>
        <p:spPr>
          <a:xfrm>
            <a:off x="1133856" y="3666744"/>
            <a:ext cx="320040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70–80% functional frontend</a:t>
            </a:r>
            <a:endParaRPr lang="en-US" sz="1300" dirty="0"/>
          </a:p>
        </p:txBody>
      </p:sp>
      <p:sp>
        <p:nvSpPr>
          <p:cNvPr id="19" name="Text 17"/>
          <p:cNvSpPr/>
          <p:nvPr/>
        </p:nvSpPr>
        <p:spPr>
          <a:xfrm>
            <a:off x="4407408" y="3666744"/>
            <a:ext cx="694944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All six mandatory modules work end to end. Only the four deferred modules are static.</a:t>
            </a:r>
            <a:endParaRPr lang="en-US" sz="1200" dirty="0"/>
          </a:p>
        </p:txBody>
      </p:sp>
      <p:sp>
        <p:nvSpPr>
          <p:cNvPr id="20" name="Shape 18"/>
          <p:cNvSpPr/>
          <p:nvPr/>
        </p:nvSpPr>
        <p:spPr>
          <a:xfrm>
            <a:off x="566928" y="4279392"/>
            <a:ext cx="11027664" cy="576072"/>
          </a:xfrm>
          <a:prstGeom prst="roundRect">
            <a:avLst>
              <a:gd name="adj" fmla="val 7937"/>
            </a:avLst>
          </a:prstGeom>
          <a:solidFill>
            <a:srgbClr val="FFFFFF"/>
          </a:solidFill>
          <a:ln w="12700">
            <a:solidFill>
              <a:srgbClr val="E2E8F0"/>
            </a:solidFill>
            <a:prstDash val="solid"/>
          </a:ln>
        </p:spPr>
      </p:sp>
      <p:sp>
        <p:nvSpPr>
          <p:cNvPr id="21" name="Shape 19"/>
          <p:cNvSpPr/>
          <p:nvPr/>
        </p:nvSpPr>
        <p:spPr>
          <a:xfrm>
            <a:off x="768096" y="4453128"/>
            <a:ext cx="237744" cy="237744"/>
          </a:xfrm>
          <a:prstGeom prst="ellipse">
            <a:avLst/>
          </a:prstGeom>
          <a:solidFill>
            <a:srgbClr val="15803D"/>
          </a:solidFill>
          <a:ln/>
        </p:spPr>
      </p:sp>
      <p:sp>
        <p:nvSpPr>
          <p:cNvPr id="22" name="Text 20"/>
          <p:cNvSpPr/>
          <p:nvPr/>
        </p:nvSpPr>
        <p:spPr>
          <a:xfrm>
            <a:off x="1133856" y="4334256"/>
            <a:ext cx="320040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Basic backend integration</a:t>
            </a:r>
            <a:endParaRPr lang="en-US" sz="1300" dirty="0"/>
          </a:p>
        </p:txBody>
      </p:sp>
      <p:sp>
        <p:nvSpPr>
          <p:cNvPr id="23" name="Text 21"/>
          <p:cNvSpPr/>
          <p:nvPr/>
        </p:nvSpPr>
        <p:spPr>
          <a:xfrm>
            <a:off x="4407408" y="4334256"/>
            <a:ext cx="694944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Full CRUD across eleven tables, session authentication, validated file uploads.</a:t>
            </a:r>
            <a:endParaRPr lang="en-US" sz="1200" dirty="0"/>
          </a:p>
        </p:txBody>
      </p:sp>
      <p:sp>
        <p:nvSpPr>
          <p:cNvPr id="24" name="Shape 22"/>
          <p:cNvSpPr/>
          <p:nvPr/>
        </p:nvSpPr>
        <p:spPr>
          <a:xfrm>
            <a:off x="566928" y="4946904"/>
            <a:ext cx="11027664" cy="576072"/>
          </a:xfrm>
          <a:prstGeom prst="roundRect">
            <a:avLst>
              <a:gd name="adj" fmla="val 7937"/>
            </a:avLst>
          </a:prstGeom>
          <a:solidFill>
            <a:srgbClr val="F8FAFC"/>
          </a:solidFill>
          <a:ln w="12700">
            <a:solidFill>
              <a:srgbClr val="E2E8F0"/>
            </a:solidFill>
            <a:prstDash val="solid"/>
          </a:ln>
        </p:spPr>
      </p:sp>
      <p:sp>
        <p:nvSpPr>
          <p:cNvPr id="25" name="Shape 23"/>
          <p:cNvSpPr/>
          <p:nvPr/>
        </p:nvSpPr>
        <p:spPr>
          <a:xfrm>
            <a:off x="768096" y="5120640"/>
            <a:ext cx="237744" cy="237744"/>
          </a:xfrm>
          <a:prstGeom prst="ellipse">
            <a:avLst/>
          </a:prstGeom>
          <a:solidFill>
            <a:srgbClr val="15803D"/>
          </a:solidFill>
          <a:ln/>
        </p:spPr>
      </p:sp>
      <p:sp>
        <p:nvSpPr>
          <p:cNvPr id="26" name="Text 24"/>
          <p:cNvSpPr/>
          <p:nvPr/>
        </p:nvSpPr>
        <p:spPr>
          <a:xfrm>
            <a:off x="1133856" y="5001768"/>
            <a:ext cx="320040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Database connectivity</a:t>
            </a:r>
            <a:endParaRPr lang="en-US" sz="1300" dirty="0"/>
          </a:p>
        </p:txBody>
      </p:sp>
      <p:sp>
        <p:nvSpPr>
          <p:cNvPr id="27" name="Text 25"/>
          <p:cNvSpPr/>
          <p:nvPr/>
        </p:nvSpPr>
        <p:spPr>
          <a:xfrm>
            <a:off x="4407408" y="5001768"/>
            <a:ext cx="694944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MySQL 8 through Eloquent over PDO, with migrations and seeders.</a:t>
            </a:r>
            <a:endParaRPr lang="en-US" sz="1200" dirty="0"/>
          </a:p>
        </p:txBody>
      </p:sp>
      <p:sp>
        <p:nvSpPr>
          <p:cNvPr id="28" name="Shape 26"/>
          <p:cNvSpPr/>
          <p:nvPr/>
        </p:nvSpPr>
        <p:spPr>
          <a:xfrm>
            <a:off x="566928" y="5614416"/>
            <a:ext cx="11027664" cy="576072"/>
          </a:xfrm>
          <a:prstGeom prst="roundRect">
            <a:avLst>
              <a:gd name="adj" fmla="val 7937"/>
            </a:avLst>
          </a:prstGeom>
          <a:solidFill>
            <a:srgbClr val="FFFFFF"/>
          </a:solidFill>
          <a:ln w="12700">
            <a:solidFill>
              <a:srgbClr val="E2E8F0"/>
            </a:solidFill>
            <a:prstDash val="solid"/>
          </a:ln>
        </p:spPr>
      </p:sp>
      <p:sp>
        <p:nvSpPr>
          <p:cNvPr id="29" name="Shape 27"/>
          <p:cNvSpPr/>
          <p:nvPr/>
        </p:nvSpPr>
        <p:spPr>
          <a:xfrm>
            <a:off x="768096" y="5788152"/>
            <a:ext cx="237744" cy="237744"/>
          </a:xfrm>
          <a:prstGeom prst="ellipse">
            <a:avLst/>
          </a:prstGeom>
          <a:solidFill>
            <a:srgbClr val="15803D"/>
          </a:solidFill>
          <a:ln/>
        </p:spPr>
      </p:sp>
      <p:sp>
        <p:nvSpPr>
          <p:cNvPr id="30" name="Text 28"/>
          <p:cNvSpPr/>
          <p:nvPr/>
        </p:nvSpPr>
        <p:spPr>
          <a:xfrm>
            <a:off x="1133856" y="5669280"/>
            <a:ext cx="3200400" cy="45720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Clear system architecture</a:t>
            </a:r>
            <a:endParaRPr lang="en-US" sz="1300" dirty="0"/>
          </a:p>
        </p:txBody>
      </p:sp>
      <p:sp>
        <p:nvSpPr>
          <p:cNvPr id="31" name="Text 29"/>
          <p:cNvSpPr/>
          <p:nvPr/>
        </p:nvSpPr>
        <p:spPr>
          <a:xfrm>
            <a:off x="4407408" y="5669280"/>
            <a:ext cx="6949440" cy="4572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Three-tier MVC, documented, with routes grouped by module.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058400" cy="237744"/>
          </a:xfrm>
          <a:prstGeom prst="rect">
            <a:avLst/>
          </a:prstGeom>
          <a:noFill/>
          <a:ln/>
        </p:spPr>
        <p:txBody>
          <a:bodyPr wrap="square" lIns="0" tIns="0" rIns="0" bIns="0" rtlCol="0" anchor="ctr"/>
          <a:lstStyle/>
          <a:p>
            <a:pPr indent="0" marL="0">
              <a:buNone/>
            </a:pPr>
            <a:r>
              <a:rPr lang="en-US" sz="1200" b="1" spc="200" kern="0" dirty="0">
                <a:solidFill>
                  <a:srgbClr val="0E7490"/>
                </a:solidFill>
                <a:latin typeface="Calibri" pitchFamily="34" charset="0"/>
                <a:ea typeface="Calibri" pitchFamily="34" charset="-122"/>
                <a:cs typeface="Calibri" pitchFamily="34" charset="-120"/>
              </a:rPr>
              <a:t>ENGINEERING</a:t>
            </a:r>
            <a:endParaRPr lang="en-US" sz="120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Two decisions we can defend</a:t>
            </a:r>
            <a:endParaRPr lang="en-US" sz="3200" dirty="0"/>
          </a:p>
        </p:txBody>
      </p:sp>
      <p:sp>
        <p:nvSpPr>
          <p:cNvPr id="4" name="Shape 2"/>
          <p:cNvSpPr/>
          <p:nvPr/>
        </p:nvSpPr>
        <p:spPr>
          <a:xfrm>
            <a:off x="566928" y="1645920"/>
            <a:ext cx="5358384" cy="3977640"/>
          </a:xfrm>
          <a:prstGeom prst="roundRect">
            <a:avLst>
              <a:gd name="adj" fmla="val 1839"/>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5" name="Text 3"/>
          <p:cNvSpPr/>
          <p:nvPr/>
        </p:nvSpPr>
        <p:spPr>
          <a:xfrm>
            <a:off x="886968" y="1874520"/>
            <a:ext cx="4754880" cy="256032"/>
          </a:xfrm>
          <a:prstGeom prst="rect">
            <a:avLst/>
          </a:prstGeom>
          <a:noFill/>
          <a:ln/>
        </p:spPr>
        <p:txBody>
          <a:bodyPr wrap="square" lIns="0" tIns="0" rIns="0" bIns="0" rtlCol="0" anchor="ctr"/>
          <a:lstStyle/>
          <a:p>
            <a:pPr indent="0" marL="0">
              <a:buNone/>
            </a:pPr>
            <a:r>
              <a:rPr lang="en-US" sz="1100" b="1" spc="140" kern="0" dirty="0">
                <a:solidFill>
                  <a:srgbClr val="0E7490"/>
                </a:solidFill>
                <a:latin typeface="Calibri" pitchFamily="34" charset="0"/>
                <a:ea typeface="Calibri" pitchFamily="34" charset="-122"/>
                <a:cs typeface="Calibri" pitchFamily="34" charset="-120"/>
              </a:rPr>
              <a:t>CDN OVER VITE</a:t>
            </a:r>
            <a:endParaRPr lang="en-US" sz="1100" dirty="0"/>
          </a:p>
        </p:txBody>
      </p:sp>
      <p:sp>
        <p:nvSpPr>
          <p:cNvPr id="6" name="Text 4"/>
          <p:cNvSpPr/>
          <p:nvPr/>
        </p:nvSpPr>
        <p:spPr>
          <a:xfrm>
            <a:off x="886968" y="2194560"/>
            <a:ext cx="4754880" cy="685800"/>
          </a:xfrm>
          <a:prstGeom prst="rect">
            <a:avLst/>
          </a:prstGeom>
          <a:noFill/>
          <a:ln/>
        </p:spPr>
        <p:txBody>
          <a:bodyPr wrap="square" lIns="0" tIns="0" rIns="0" bIns="0" rtlCol="0" anchor="ctr"/>
          <a:lstStyle/>
          <a:p>
            <a:pPr indent="0" marL="0">
              <a:lnSpc>
                <a:spcPts val="2600"/>
              </a:lnSpc>
              <a:buNone/>
            </a:pPr>
            <a:r>
              <a:rPr lang="en-US" sz="2000" b="1" dirty="0">
                <a:solidFill>
                  <a:srgbClr val="0F172A"/>
                </a:solidFill>
                <a:latin typeface="Calibri" pitchFamily="34" charset="0"/>
                <a:ea typeface="Calibri" pitchFamily="34" charset="-122"/>
                <a:cs typeface="Calibri" pitchFamily="34" charset="-120"/>
              </a:rPr>
              <a:t>No Node.js, no build step</a:t>
            </a:r>
            <a:endParaRPr lang="en-US" sz="2000" dirty="0"/>
          </a:p>
        </p:txBody>
      </p:sp>
      <p:sp>
        <p:nvSpPr>
          <p:cNvPr id="7" name="Text 5"/>
          <p:cNvSpPr/>
          <p:nvPr/>
        </p:nvSpPr>
        <p:spPr>
          <a:xfrm>
            <a:off x="886968" y="3017520"/>
            <a:ext cx="4754880" cy="2377440"/>
          </a:xfrm>
          <a:prstGeom prst="rect">
            <a:avLst/>
          </a:prstGeom>
          <a:noFill/>
          <a:ln/>
        </p:spPr>
        <p:txBody>
          <a:bodyPr wrap="square" lIns="0" tIns="0" rIns="0" bIns="0" rtlCol="0" anchor="ctr"/>
          <a:lstStyle/>
          <a:p>
            <a:pPr indent="0" marL="0">
              <a:lnSpc>
                <a:spcPts val="1800"/>
              </a:lnSpc>
              <a:buNone/>
            </a:pPr>
            <a:r>
              <a:rPr lang="en-US" sz="1250" dirty="0">
                <a:solidFill>
                  <a:srgbClr val="475569"/>
                </a:solidFill>
                <a:latin typeface="Calibri" pitchFamily="34" charset="0"/>
                <a:ea typeface="Calibri" pitchFamily="34" charset="-122"/>
                <a:cs typeface="Calibri" pitchFamily="34" charset="-120"/>
              </a:rPr>
              <a:t>Bootstrap loads from a CDN and our own styles are one plain CSS file. The alternative adds Node, an npm install and a build to the setup instructions.</a:t>
            </a:r>
            <a:endParaRPr lang="en-US" sz="1250" dirty="0"/>
          </a:p>
          <a:p>
            <a:pPr indent="0" marL="0">
              <a:lnSpc>
                <a:spcPts val="1800"/>
              </a:lnSpc>
              <a:buNone/>
            </a:pPr>
            <a:endParaRPr lang="en-US" sz="1250" dirty="0"/>
          </a:p>
          <a:p>
            <a:pPr indent="0" marL="0">
              <a:lnSpc>
                <a:spcPts val="1800"/>
              </a:lnSpc>
              <a:buNone/>
            </a:pPr>
            <a:r>
              <a:rPr lang="en-US" sz="1250" dirty="0">
                <a:solidFill>
                  <a:srgbClr val="475569"/>
                </a:solidFill>
                <a:latin typeface="Calibri" pitchFamily="34" charset="0"/>
                <a:ea typeface="Calibri" pitchFamily="34" charset="-122"/>
                <a:cs typeface="Calibri" pitchFamily="34" charset="-120"/>
              </a:rPr>
              <a:t>For a deliverable an evaluator runs on an unfamiliar machine, removing a toolchain removes a whole class of setup failure. The project installs with composer install and nothing else.</a:t>
            </a:r>
            <a:endParaRPr lang="en-US" sz="1250" dirty="0"/>
          </a:p>
        </p:txBody>
      </p:sp>
      <p:sp>
        <p:nvSpPr>
          <p:cNvPr id="8" name="Shape 6"/>
          <p:cNvSpPr/>
          <p:nvPr/>
        </p:nvSpPr>
        <p:spPr>
          <a:xfrm>
            <a:off x="6236208" y="1645920"/>
            <a:ext cx="5358384" cy="3977640"/>
          </a:xfrm>
          <a:prstGeom prst="roundRect">
            <a:avLst>
              <a:gd name="adj" fmla="val 1839"/>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9" name="Text 7"/>
          <p:cNvSpPr/>
          <p:nvPr/>
        </p:nvSpPr>
        <p:spPr>
          <a:xfrm>
            <a:off x="6556248" y="1874520"/>
            <a:ext cx="4754880" cy="256032"/>
          </a:xfrm>
          <a:prstGeom prst="rect">
            <a:avLst/>
          </a:prstGeom>
          <a:noFill/>
          <a:ln/>
        </p:spPr>
        <p:txBody>
          <a:bodyPr wrap="square" lIns="0" tIns="0" rIns="0" bIns="0" rtlCol="0" anchor="ctr"/>
          <a:lstStyle/>
          <a:p>
            <a:pPr indent="0" marL="0">
              <a:buNone/>
            </a:pPr>
            <a:r>
              <a:rPr lang="en-US" sz="1100" b="1" spc="140" kern="0" dirty="0">
                <a:solidFill>
                  <a:srgbClr val="0E7490"/>
                </a:solidFill>
                <a:latin typeface="Calibri" pitchFamily="34" charset="0"/>
                <a:ea typeface="Calibri" pitchFamily="34" charset="-122"/>
                <a:cs typeface="Calibri" pitchFamily="34" charset="-120"/>
              </a:rPr>
              <a:t>AVOIDING A FRAMEWORK COLLISION</a:t>
            </a:r>
            <a:endParaRPr lang="en-US" sz="1100" dirty="0"/>
          </a:p>
        </p:txBody>
      </p:sp>
      <p:sp>
        <p:nvSpPr>
          <p:cNvPr id="10" name="Text 8"/>
          <p:cNvSpPr/>
          <p:nvPr/>
        </p:nvSpPr>
        <p:spPr>
          <a:xfrm>
            <a:off x="6556248" y="2194560"/>
            <a:ext cx="4754880" cy="685800"/>
          </a:xfrm>
          <a:prstGeom prst="rect">
            <a:avLst/>
          </a:prstGeom>
          <a:noFill/>
          <a:ln/>
        </p:spPr>
        <p:txBody>
          <a:bodyPr wrap="square" lIns="0" tIns="0" rIns="0" bIns="0" rtlCol="0" anchor="ctr"/>
          <a:lstStyle/>
          <a:p>
            <a:pPr indent="0" marL="0">
              <a:lnSpc>
                <a:spcPts val="2600"/>
              </a:lnSpc>
              <a:buNone/>
            </a:pPr>
            <a:r>
              <a:rPr lang="en-US" sz="2000" b="1" dirty="0">
                <a:solidFill>
                  <a:srgbClr val="0F172A"/>
                </a:solidFill>
                <a:latin typeface="Calibri" pitchFamily="34" charset="0"/>
                <a:ea typeface="Calibri" pitchFamily="34" charset="-122"/>
                <a:cs typeface="Calibri" pitchFamily="34" charset="-120"/>
              </a:rPr>
              <a:t>The table is job_posts, not jobs</a:t>
            </a:r>
            <a:endParaRPr lang="en-US" sz="2000" dirty="0"/>
          </a:p>
        </p:txBody>
      </p:sp>
      <p:sp>
        <p:nvSpPr>
          <p:cNvPr id="11" name="Text 9"/>
          <p:cNvSpPr/>
          <p:nvPr/>
        </p:nvSpPr>
        <p:spPr>
          <a:xfrm>
            <a:off x="6556248" y="3017520"/>
            <a:ext cx="4754880" cy="2377440"/>
          </a:xfrm>
          <a:prstGeom prst="rect">
            <a:avLst/>
          </a:prstGeom>
          <a:noFill/>
          <a:ln/>
        </p:spPr>
        <p:txBody>
          <a:bodyPr wrap="square" lIns="0" tIns="0" rIns="0" bIns="0" rtlCol="0" anchor="ctr"/>
          <a:lstStyle/>
          <a:p>
            <a:pPr indent="0" marL="0">
              <a:lnSpc>
                <a:spcPts val="1800"/>
              </a:lnSpc>
              <a:buNone/>
            </a:pPr>
            <a:r>
              <a:rPr lang="en-US" sz="1250" dirty="0">
                <a:solidFill>
                  <a:srgbClr val="475569"/>
                </a:solidFill>
                <a:latin typeface="Calibri" pitchFamily="34" charset="0"/>
                <a:ea typeface="Calibri" pitchFamily="34" charset="-122"/>
                <a:cs typeface="Calibri" pitchFamily="34" charset="-120"/>
              </a:rPr>
              <a:t>Laravel reserves the jobs table for its queue worker, and the default migration creates it.</a:t>
            </a:r>
            <a:endParaRPr lang="en-US" sz="1250" dirty="0"/>
          </a:p>
          <a:p>
            <a:pPr indent="0" marL="0">
              <a:lnSpc>
                <a:spcPts val="1800"/>
              </a:lnSpc>
              <a:buNone/>
            </a:pPr>
            <a:endParaRPr lang="en-US" sz="1250" dirty="0"/>
          </a:p>
          <a:p>
            <a:pPr indent="0" marL="0">
              <a:lnSpc>
                <a:spcPts val="1800"/>
              </a:lnSpc>
              <a:buNone/>
            </a:pPr>
            <a:r>
              <a:rPr lang="en-US" sz="1250" dirty="0">
                <a:solidFill>
                  <a:srgbClr val="475569"/>
                </a:solidFill>
                <a:latin typeface="Calibri" pitchFamily="34" charset="0"/>
                <a:ea typeface="Calibri" pitchFamily="34" charset="-122"/>
                <a:cs typeface="Calibri" pitchFamily="34" charset="-120"/>
              </a:rPr>
              <a:t>Naming our opportunities table jobs would have collided with the framework. The table and its model are job_posts and JobPost — a small detail that would have cost hours to diagnose later.</a:t>
            </a:r>
            <a:endParaRPr lang="en-US" sz="1250" dirty="0"/>
          </a:p>
        </p:txBody>
      </p:sp>
      <p:sp>
        <p:nvSpPr>
          <p:cNvPr id="12" name="Text 10"/>
          <p:cNvSpPr/>
          <p:nvPr/>
        </p:nvSpPr>
        <p:spPr>
          <a:xfrm>
            <a:off x="566928" y="5943600"/>
            <a:ext cx="1097280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Both are trade-offs, not shortcuts — and being able to explain the trade-off is the point.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2011680" y="4023360"/>
            <a:ext cx="5943600" cy="5943600"/>
          </a:xfrm>
          <a:prstGeom prst="ellipse">
            <a:avLst/>
          </a:prstGeom>
          <a:solidFill>
            <a:srgbClr val="1B3A5C"/>
          </a:solidFill>
          <a:ln/>
        </p:spPr>
      </p:sp>
      <p:sp>
        <p:nvSpPr>
          <p:cNvPr id="3" name="Text 1"/>
          <p:cNvSpPr/>
          <p:nvPr/>
        </p:nvSpPr>
        <p:spPr>
          <a:xfrm>
            <a:off x="566928" y="777240"/>
            <a:ext cx="54864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PHASE 2</a:t>
            </a:r>
            <a:endParaRPr lang="en-US" sz="1200" dirty="0"/>
          </a:p>
        </p:txBody>
      </p:sp>
      <p:sp>
        <p:nvSpPr>
          <p:cNvPr id="4" name="Text 2"/>
          <p:cNvSpPr/>
          <p:nvPr/>
        </p:nvSpPr>
        <p:spPr>
          <a:xfrm>
            <a:off x="566928" y="1097280"/>
            <a:ext cx="731520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What comes next</a:t>
            </a:r>
            <a:endParaRPr lang="en-US" sz="3800" dirty="0"/>
          </a:p>
        </p:txBody>
      </p:sp>
      <p:sp>
        <p:nvSpPr>
          <p:cNvPr id="5" name="Text 3"/>
          <p:cNvSpPr/>
          <p:nvPr/>
        </p:nvSpPr>
        <p:spPr>
          <a:xfrm>
            <a:off x="566928" y="1874520"/>
            <a:ext cx="6949440" cy="640080"/>
          </a:xfrm>
          <a:prstGeom prst="rect">
            <a:avLst/>
          </a:prstGeom>
          <a:noFill/>
          <a:ln/>
        </p:spPr>
        <p:txBody>
          <a:bodyPr wrap="square" lIns="0" tIns="0" rIns="0" bIns="0" rtlCol="0" anchor="ctr"/>
          <a:lstStyle/>
          <a:p>
            <a:pPr indent="0" marL="0">
              <a:lnSpc>
                <a:spcPts val="2000"/>
              </a:lnSpc>
              <a:buNone/>
            </a:pPr>
            <a:r>
              <a:rPr lang="en-US" sz="1400" dirty="0">
                <a:solidFill>
                  <a:srgbClr val="A9BACD"/>
                </a:solidFill>
                <a:latin typeface="Calibri" pitchFamily="34" charset="0"/>
                <a:ea typeface="Calibri" pitchFamily="34" charset="-122"/>
                <a:cs typeface="Calibri" pitchFamily="34" charset="-120"/>
              </a:rPr>
              <a:t>The four remaining functional requirements already have placeholder pages in the running application. Each lists its planned features and cites its FR number.</a:t>
            </a:r>
            <a:endParaRPr lang="en-US" sz="1400" dirty="0"/>
          </a:p>
        </p:txBody>
      </p:sp>
      <p:sp>
        <p:nvSpPr>
          <p:cNvPr id="6" name="Shape 4"/>
          <p:cNvSpPr/>
          <p:nvPr/>
        </p:nvSpPr>
        <p:spPr>
          <a:xfrm>
            <a:off x="566928" y="2788920"/>
            <a:ext cx="5358384" cy="1371600"/>
          </a:xfrm>
          <a:prstGeom prst="roundRect">
            <a:avLst>
              <a:gd name="adj" fmla="val 4667"/>
            </a:avLst>
          </a:prstGeom>
          <a:solidFill>
            <a:srgbClr val="1B3A5C"/>
          </a:solidFill>
          <a:ln w="12700">
            <a:solidFill>
              <a:srgbClr val="2E5A85"/>
            </a:solidFill>
            <a:prstDash val="solid"/>
          </a:ln>
        </p:spPr>
      </p:sp>
      <p:sp>
        <p:nvSpPr>
          <p:cNvPr id="7" name="Text 5"/>
          <p:cNvSpPr/>
          <p:nvPr/>
        </p:nvSpPr>
        <p:spPr>
          <a:xfrm>
            <a:off x="859536" y="2953512"/>
            <a:ext cx="38404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Project Collaboration</a:t>
            </a:r>
            <a:endParaRPr lang="en-US" sz="1500" dirty="0"/>
          </a:p>
        </p:txBody>
      </p:sp>
      <p:sp>
        <p:nvSpPr>
          <p:cNvPr id="8" name="Shape 6"/>
          <p:cNvSpPr/>
          <p:nvPr/>
        </p:nvSpPr>
        <p:spPr>
          <a:xfrm>
            <a:off x="5047488" y="2953512"/>
            <a:ext cx="640080" cy="274320"/>
          </a:xfrm>
          <a:prstGeom prst="roundRect">
            <a:avLst>
              <a:gd name="adj" fmla="val 16667"/>
            </a:avLst>
          </a:prstGeom>
          <a:solidFill>
            <a:srgbClr val="22D3EE"/>
          </a:solidFill>
          <a:ln/>
        </p:spPr>
      </p:sp>
      <p:sp>
        <p:nvSpPr>
          <p:cNvPr id="9" name="Text 7"/>
          <p:cNvSpPr/>
          <p:nvPr/>
        </p:nvSpPr>
        <p:spPr>
          <a:xfrm>
            <a:off x="5047488" y="2953512"/>
            <a:ext cx="64008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FR3</a:t>
            </a:r>
            <a:endParaRPr lang="en-US" sz="1100" dirty="0"/>
          </a:p>
        </p:txBody>
      </p:sp>
      <p:sp>
        <p:nvSpPr>
          <p:cNvPr id="10" name="Text 8"/>
          <p:cNvSpPr/>
          <p:nvPr/>
        </p:nvSpPr>
        <p:spPr>
          <a:xfrm>
            <a:off x="859536" y="3291840"/>
            <a:ext cx="4754880" cy="777240"/>
          </a:xfrm>
          <a:prstGeom prst="rect">
            <a:avLst/>
          </a:prstGeom>
          <a:noFill/>
          <a:ln/>
        </p:spPr>
        <p:txBody>
          <a:bodyPr wrap="square" lIns="0" tIns="0" rIns="0" bIns="0" rtlCol="0" anchor="ctr"/>
          <a:lstStyle/>
          <a:p>
            <a:pPr indent="0" marL="0">
              <a:lnSpc>
                <a:spcPts val="1500"/>
              </a:lnSpc>
              <a:buNone/>
            </a:pPr>
            <a:r>
              <a:rPr lang="en-US" sz="1150" dirty="0">
                <a:solidFill>
                  <a:srgbClr val="A9BACD"/>
                </a:solidFill>
                <a:latin typeface="Calibri" pitchFamily="34" charset="0"/>
                <a:ea typeface="Calibri" pitchFamily="34" charset="-122"/>
                <a:cs typeface="Calibri" pitchFamily="34" charset="-120"/>
              </a:rPr>
              <a:t>Project spaces · collaborator invitations · file sharing with versions · threaded feedback</a:t>
            </a:r>
            <a:endParaRPr lang="en-US" sz="1150" dirty="0"/>
          </a:p>
        </p:txBody>
      </p:sp>
      <p:sp>
        <p:nvSpPr>
          <p:cNvPr id="11" name="Shape 9"/>
          <p:cNvSpPr/>
          <p:nvPr/>
        </p:nvSpPr>
        <p:spPr>
          <a:xfrm>
            <a:off x="6236208" y="2788920"/>
            <a:ext cx="5358384" cy="1371600"/>
          </a:xfrm>
          <a:prstGeom prst="roundRect">
            <a:avLst>
              <a:gd name="adj" fmla="val 4667"/>
            </a:avLst>
          </a:prstGeom>
          <a:solidFill>
            <a:srgbClr val="1B3A5C"/>
          </a:solidFill>
          <a:ln w="12700">
            <a:solidFill>
              <a:srgbClr val="2E5A85"/>
            </a:solidFill>
            <a:prstDash val="solid"/>
          </a:ln>
        </p:spPr>
      </p:sp>
      <p:sp>
        <p:nvSpPr>
          <p:cNvPr id="12" name="Text 10"/>
          <p:cNvSpPr/>
          <p:nvPr/>
        </p:nvSpPr>
        <p:spPr>
          <a:xfrm>
            <a:off x="6528816" y="2953512"/>
            <a:ext cx="38404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Events &amp; Podcasts</a:t>
            </a:r>
            <a:endParaRPr lang="en-US" sz="1500" dirty="0"/>
          </a:p>
        </p:txBody>
      </p:sp>
      <p:sp>
        <p:nvSpPr>
          <p:cNvPr id="13" name="Shape 11"/>
          <p:cNvSpPr/>
          <p:nvPr/>
        </p:nvSpPr>
        <p:spPr>
          <a:xfrm>
            <a:off x="10716768" y="2953512"/>
            <a:ext cx="640080" cy="274320"/>
          </a:xfrm>
          <a:prstGeom prst="roundRect">
            <a:avLst>
              <a:gd name="adj" fmla="val 16667"/>
            </a:avLst>
          </a:prstGeom>
          <a:solidFill>
            <a:srgbClr val="22D3EE"/>
          </a:solidFill>
          <a:ln/>
        </p:spPr>
      </p:sp>
      <p:sp>
        <p:nvSpPr>
          <p:cNvPr id="14" name="Text 12"/>
          <p:cNvSpPr/>
          <p:nvPr/>
        </p:nvSpPr>
        <p:spPr>
          <a:xfrm>
            <a:off x="10716768" y="2953512"/>
            <a:ext cx="64008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FR4</a:t>
            </a:r>
            <a:endParaRPr lang="en-US" sz="1100" dirty="0"/>
          </a:p>
        </p:txBody>
      </p:sp>
      <p:sp>
        <p:nvSpPr>
          <p:cNvPr id="15" name="Text 13"/>
          <p:cNvSpPr/>
          <p:nvPr/>
        </p:nvSpPr>
        <p:spPr>
          <a:xfrm>
            <a:off x="6528816" y="3291840"/>
            <a:ext cx="4754880" cy="777240"/>
          </a:xfrm>
          <a:prstGeom prst="rect">
            <a:avLst/>
          </a:prstGeom>
          <a:noFill/>
          <a:ln/>
        </p:spPr>
        <p:txBody>
          <a:bodyPr wrap="square" lIns="0" tIns="0" rIns="0" bIns="0" rtlCol="0" anchor="ctr"/>
          <a:lstStyle/>
          <a:p>
            <a:pPr indent="0" marL="0">
              <a:lnSpc>
                <a:spcPts val="1500"/>
              </a:lnSpc>
              <a:buNone/>
            </a:pPr>
            <a:r>
              <a:rPr lang="en-US" sz="1150" dirty="0">
                <a:solidFill>
                  <a:srgbClr val="A9BACD"/>
                </a:solidFill>
                <a:latin typeface="Calibri" pitchFamily="34" charset="0"/>
                <a:ea typeface="Calibri" pitchFamily="34" charset="-122"/>
                <a:cs typeface="Calibri" pitchFamily="34" charset="-120"/>
              </a:rPr>
              <a:t>Event CRUD and registration · webinar API integration · podcast upload and RSS</a:t>
            </a:r>
            <a:endParaRPr lang="en-US" sz="1150" dirty="0"/>
          </a:p>
        </p:txBody>
      </p:sp>
      <p:sp>
        <p:nvSpPr>
          <p:cNvPr id="16" name="Shape 14"/>
          <p:cNvSpPr/>
          <p:nvPr/>
        </p:nvSpPr>
        <p:spPr>
          <a:xfrm>
            <a:off x="566928" y="4361688"/>
            <a:ext cx="5358384" cy="1371600"/>
          </a:xfrm>
          <a:prstGeom prst="roundRect">
            <a:avLst>
              <a:gd name="adj" fmla="val 4667"/>
            </a:avLst>
          </a:prstGeom>
          <a:solidFill>
            <a:srgbClr val="1B3A5C"/>
          </a:solidFill>
          <a:ln w="12700">
            <a:solidFill>
              <a:srgbClr val="2E5A85"/>
            </a:solidFill>
            <a:prstDash val="solid"/>
          </a:ln>
        </p:spPr>
      </p:sp>
      <p:sp>
        <p:nvSpPr>
          <p:cNvPr id="17" name="Text 15"/>
          <p:cNvSpPr/>
          <p:nvPr/>
        </p:nvSpPr>
        <p:spPr>
          <a:xfrm>
            <a:off x="859536" y="4526280"/>
            <a:ext cx="38404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Consulting Management</a:t>
            </a:r>
            <a:endParaRPr lang="en-US" sz="1500" dirty="0"/>
          </a:p>
        </p:txBody>
      </p:sp>
      <p:sp>
        <p:nvSpPr>
          <p:cNvPr id="18" name="Shape 16"/>
          <p:cNvSpPr/>
          <p:nvPr/>
        </p:nvSpPr>
        <p:spPr>
          <a:xfrm>
            <a:off x="5047488" y="4526280"/>
            <a:ext cx="640080" cy="274320"/>
          </a:xfrm>
          <a:prstGeom prst="roundRect">
            <a:avLst>
              <a:gd name="adj" fmla="val 16667"/>
            </a:avLst>
          </a:prstGeom>
          <a:solidFill>
            <a:srgbClr val="22D3EE"/>
          </a:solidFill>
          <a:ln/>
        </p:spPr>
      </p:sp>
      <p:sp>
        <p:nvSpPr>
          <p:cNvPr id="19" name="Text 17"/>
          <p:cNvSpPr/>
          <p:nvPr/>
        </p:nvSpPr>
        <p:spPr>
          <a:xfrm>
            <a:off x="5047488" y="4526280"/>
            <a:ext cx="64008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FR6</a:t>
            </a:r>
            <a:endParaRPr lang="en-US" sz="1100" dirty="0"/>
          </a:p>
        </p:txBody>
      </p:sp>
      <p:sp>
        <p:nvSpPr>
          <p:cNvPr id="20" name="Text 18"/>
          <p:cNvSpPr/>
          <p:nvPr/>
        </p:nvSpPr>
        <p:spPr>
          <a:xfrm>
            <a:off x="859536" y="4864608"/>
            <a:ext cx="4754880" cy="777240"/>
          </a:xfrm>
          <a:prstGeom prst="rect">
            <a:avLst/>
          </a:prstGeom>
          <a:noFill/>
          <a:ln/>
        </p:spPr>
        <p:txBody>
          <a:bodyPr wrap="square" lIns="0" tIns="0" rIns="0" bIns="0" rtlCol="0" anchor="ctr"/>
          <a:lstStyle/>
          <a:p>
            <a:pPr indent="0" marL="0">
              <a:lnSpc>
                <a:spcPts val="1500"/>
              </a:lnSpc>
              <a:buNone/>
            </a:pPr>
            <a:r>
              <a:rPr lang="en-US" sz="1150" dirty="0">
                <a:solidFill>
                  <a:srgbClr val="A9BACD"/>
                </a:solidFill>
                <a:latin typeface="Calibri" pitchFamily="34" charset="0"/>
                <a:ea typeface="Calibri" pitchFamily="34" charset="-122"/>
                <a:cs typeface="Calibri" pitchFamily="34" charset="-120"/>
              </a:rPr>
              <a:t>Client records · availability calendar · booking · proposal tracking</a:t>
            </a:r>
            <a:endParaRPr lang="en-US" sz="1150" dirty="0"/>
          </a:p>
        </p:txBody>
      </p:sp>
      <p:sp>
        <p:nvSpPr>
          <p:cNvPr id="21" name="Shape 19"/>
          <p:cNvSpPr/>
          <p:nvPr/>
        </p:nvSpPr>
        <p:spPr>
          <a:xfrm>
            <a:off x="6236208" y="4361688"/>
            <a:ext cx="5358384" cy="1371600"/>
          </a:xfrm>
          <a:prstGeom prst="roundRect">
            <a:avLst>
              <a:gd name="adj" fmla="val 4667"/>
            </a:avLst>
          </a:prstGeom>
          <a:solidFill>
            <a:srgbClr val="1B3A5C"/>
          </a:solidFill>
          <a:ln w="12700">
            <a:solidFill>
              <a:srgbClr val="2E5A85"/>
            </a:solidFill>
            <a:prstDash val="solid"/>
          </a:ln>
        </p:spPr>
      </p:sp>
      <p:sp>
        <p:nvSpPr>
          <p:cNvPr id="22" name="Text 20"/>
          <p:cNvSpPr/>
          <p:nvPr/>
        </p:nvSpPr>
        <p:spPr>
          <a:xfrm>
            <a:off x="6528816" y="4526280"/>
            <a:ext cx="3840480"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Newsletter &amp; Announcements</a:t>
            </a:r>
            <a:endParaRPr lang="en-US" sz="1500" dirty="0"/>
          </a:p>
        </p:txBody>
      </p:sp>
      <p:sp>
        <p:nvSpPr>
          <p:cNvPr id="23" name="Shape 21"/>
          <p:cNvSpPr/>
          <p:nvPr/>
        </p:nvSpPr>
        <p:spPr>
          <a:xfrm>
            <a:off x="10716768" y="4526280"/>
            <a:ext cx="640080" cy="274320"/>
          </a:xfrm>
          <a:prstGeom prst="roundRect">
            <a:avLst>
              <a:gd name="adj" fmla="val 16667"/>
            </a:avLst>
          </a:prstGeom>
          <a:solidFill>
            <a:srgbClr val="22D3EE"/>
          </a:solidFill>
          <a:ln/>
        </p:spPr>
      </p:sp>
      <p:sp>
        <p:nvSpPr>
          <p:cNvPr id="24" name="Text 22"/>
          <p:cNvSpPr/>
          <p:nvPr/>
        </p:nvSpPr>
        <p:spPr>
          <a:xfrm>
            <a:off x="10716768" y="4526280"/>
            <a:ext cx="640080" cy="274320"/>
          </a:xfrm>
          <a:prstGeom prst="rect">
            <a:avLst/>
          </a:prstGeom>
          <a:noFill/>
          <a:ln/>
        </p:spPr>
        <p:txBody>
          <a:bodyPr wrap="square" lIns="0" tIns="0" rIns="0" bIns="0" rtlCol="0" anchor="ctr"/>
          <a:lstStyle/>
          <a:p>
            <a:pPr algn="ctr" indent="0" marL="0">
              <a:buNone/>
            </a:pPr>
            <a:r>
              <a:rPr lang="en-US" sz="1100" b="1" dirty="0">
                <a:solidFill>
                  <a:srgbClr val="0F172A"/>
                </a:solidFill>
                <a:latin typeface="Calibri" pitchFamily="34" charset="0"/>
                <a:ea typeface="Calibri" pitchFamily="34" charset="-122"/>
                <a:cs typeface="Calibri" pitchFamily="34" charset="-120"/>
              </a:rPr>
              <a:t>FR7</a:t>
            </a:r>
            <a:endParaRPr lang="en-US" sz="1100" dirty="0"/>
          </a:p>
        </p:txBody>
      </p:sp>
      <p:sp>
        <p:nvSpPr>
          <p:cNvPr id="25" name="Text 23"/>
          <p:cNvSpPr/>
          <p:nvPr/>
        </p:nvSpPr>
        <p:spPr>
          <a:xfrm>
            <a:off x="6528816" y="4864608"/>
            <a:ext cx="4754880" cy="777240"/>
          </a:xfrm>
          <a:prstGeom prst="rect">
            <a:avLst/>
          </a:prstGeom>
          <a:noFill/>
          <a:ln/>
        </p:spPr>
        <p:txBody>
          <a:bodyPr wrap="square" lIns="0" tIns="0" rIns="0" bIns="0" rtlCol="0" anchor="ctr"/>
          <a:lstStyle/>
          <a:p>
            <a:pPr indent="0" marL="0">
              <a:lnSpc>
                <a:spcPts val="1500"/>
              </a:lnSpc>
              <a:buNone/>
            </a:pPr>
            <a:r>
              <a:rPr lang="en-US" sz="1150" dirty="0">
                <a:solidFill>
                  <a:srgbClr val="A9BACD"/>
                </a:solidFill>
                <a:latin typeface="Calibri" pitchFamily="34" charset="0"/>
                <a:ea typeface="Calibri" pitchFamily="34" charset="-122"/>
                <a:cs typeface="Calibri" pitchFamily="34" charset="-120"/>
              </a:rPr>
              <a:t>Subscriptions · campaign composer · queued mail delivery · announcement feed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10058400" cy="237744"/>
          </a:xfrm>
          <a:prstGeom prst="rect">
            <a:avLst/>
          </a:prstGeom>
          <a:noFill/>
          <a:ln/>
        </p:spPr>
        <p:txBody>
          <a:bodyPr wrap="square" lIns="0" tIns="0" rIns="0" bIns="0" rtlCol="0" anchor="ctr"/>
          <a:lstStyle/>
          <a:p>
            <a:pPr indent="0" marL="0">
              <a:buNone/>
            </a:pPr>
            <a:r>
              <a:rPr lang="en-US" sz="1200" b="1" spc="200" kern="0" dirty="0">
                <a:solidFill>
                  <a:srgbClr val="0E7490"/>
                </a:solidFill>
                <a:latin typeface="Calibri" pitchFamily="34" charset="0"/>
                <a:ea typeface="Calibri" pitchFamily="34" charset="-122"/>
                <a:cs typeface="Calibri" pitchFamily="34" charset="-120"/>
              </a:rPr>
              <a:t>REFLECTION</a:t>
            </a:r>
            <a:endParaRPr lang="en-US" sz="1200" dirty="0"/>
          </a:p>
        </p:txBody>
      </p:sp>
      <p:sp>
        <p:nvSpPr>
          <p:cNvPr id="3" name="Text 1"/>
          <p:cNvSpPr/>
          <p:nvPr/>
        </p:nvSpPr>
        <p:spPr>
          <a:xfrm>
            <a:off x="566928" y="603504"/>
            <a:ext cx="11027664" cy="658368"/>
          </a:xfrm>
          <a:prstGeom prst="rect">
            <a:avLst/>
          </a:prstGeom>
          <a:noFill/>
          <a:ln/>
        </p:spPr>
        <p:txBody>
          <a:bodyPr wrap="square" lIns="0" tIns="0" rIns="0" bIns="0" rtlCol="0" anchor="t"/>
          <a:lstStyle/>
          <a:p>
            <a:pPr indent="0" marL="0">
              <a:buNone/>
            </a:pPr>
            <a:r>
              <a:rPr lang="en-US" sz="3200" b="1" dirty="0">
                <a:solidFill>
                  <a:srgbClr val="0F172A"/>
                </a:solidFill>
                <a:latin typeface="Calibri" pitchFamily="34" charset="0"/>
                <a:ea typeface="Calibri" pitchFamily="34" charset="-122"/>
                <a:cs typeface="Calibri" pitchFamily="34" charset="-120"/>
              </a:rPr>
              <a:t>What building it actually taught us</a:t>
            </a:r>
            <a:endParaRPr lang="en-US" sz="3200" dirty="0"/>
          </a:p>
        </p:txBody>
      </p:sp>
      <p:sp>
        <p:nvSpPr>
          <p:cNvPr id="4" name="Shape 2"/>
          <p:cNvSpPr/>
          <p:nvPr/>
        </p:nvSpPr>
        <p:spPr>
          <a:xfrm>
            <a:off x="566928" y="1645920"/>
            <a:ext cx="5358384" cy="2011680"/>
          </a:xfrm>
          <a:prstGeom prst="roundRect">
            <a:avLst>
              <a:gd name="adj" fmla="val 3636"/>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5" name="Shape 3"/>
          <p:cNvSpPr/>
          <p:nvPr/>
        </p:nvSpPr>
        <p:spPr>
          <a:xfrm>
            <a:off x="859536" y="1920240"/>
            <a:ext cx="420624" cy="420624"/>
          </a:xfrm>
          <a:prstGeom prst="ellipse">
            <a:avLst/>
          </a:prstGeom>
          <a:solidFill>
            <a:srgbClr val="22D3EE"/>
          </a:solidFill>
          <a:ln/>
        </p:spPr>
      </p:sp>
      <p:sp>
        <p:nvSpPr>
          <p:cNvPr id="6" name="Text 4"/>
          <p:cNvSpPr/>
          <p:nvPr/>
        </p:nvSpPr>
        <p:spPr>
          <a:xfrm>
            <a:off x="859536" y="1920240"/>
            <a:ext cx="420624" cy="420624"/>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08176" y="1920240"/>
            <a:ext cx="4297680" cy="420624"/>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Requirements are rarely complete</a:t>
            </a:r>
            <a:endParaRPr lang="en-US" sz="1550" dirty="0"/>
          </a:p>
        </p:txBody>
      </p:sp>
      <p:sp>
        <p:nvSpPr>
          <p:cNvPr id="8" name="Text 6"/>
          <p:cNvSpPr/>
          <p:nvPr/>
        </p:nvSpPr>
        <p:spPr>
          <a:xfrm>
            <a:off x="859536" y="2487168"/>
            <a:ext cx="4800600" cy="1051560"/>
          </a:xfrm>
          <a:prstGeom prst="rect">
            <a:avLst/>
          </a:prstGeom>
          <a:noFill/>
          <a:ln/>
        </p:spPr>
        <p:txBody>
          <a:bodyPr wrap="square" lIns="0" tIns="0" rIns="0" bIns="0" rtlCol="0" anchor="ctr"/>
          <a:lstStyle/>
          <a:p>
            <a:pPr indent="0" marL="0">
              <a:lnSpc>
                <a:spcPts val="1500"/>
              </a:lnSpc>
              <a:buNone/>
            </a:pPr>
            <a:r>
              <a:rPr lang="en-US" sz="1150" dirty="0">
                <a:solidFill>
                  <a:srgbClr val="475569"/>
                </a:solidFill>
                <a:latin typeface="Calibri" pitchFamily="34" charset="0"/>
                <a:ea typeface="Calibri" pitchFamily="34" charset="-122"/>
                <a:cs typeface="Calibri" pitchFamily="34" charset="-120"/>
              </a:rPr>
              <a:t>The two source documents disagree on the technology stack, number the FRs inconsistently, never name the roles, and make Dashboard mandatory with no FR behind it. Reading them closely was real work — we documented every assumption rather than pretending the specification was unambiguous.</a:t>
            </a:r>
            <a:endParaRPr lang="en-US" sz="1150" dirty="0"/>
          </a:p>
        </p:txBody>
      </p:sp>
      <p:sp>
        <p:nvSpPr>
          <p:cNvPr id="9" name="Shape 7"/>
          <p:cNvSpPr/>
          <p:nvPr/>
        </p:nvSpPr>
        <p:spPr>
          <a:xfrm>
            <a:off x="6236208" y="1645920"/>
            <a:ext cx="5358384" cy="2011680"/>
          </a:xfrm>
          <a:prstGeom prst="roundRect">
            <a:avLst>
              <a:gd name="adj" fmla="val 3636"/>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0" name="Shape 8"/>
          <p:cNvSpPr/>
          <p:nvPr/>
        </p:nvSpPr>
        <p:spPr>
          <a:xfrm>
            <a:off x="6528816" y="1920240"/>
            <a:ext cx="420624" cy="420624"/>
          </a:xfrm>
          <a:prstGeom prst="ellipse">
            <a:avLst/>
          </a:prstGeom>
          <a:solidFill>
            <a:srgbClr val="22D3EE"/>
          </a:solidFill>
          <a:ln/>
        </p:spPr>
      </p:sp>
      <p:sp>
        <p:nvSpPr>
          <p:cNvPr id="11" name="Text 9"/>
          <p:cNvSpPr/>
          <p:nvPr/>
        </p:nvSpPr>
        <p:spPr>
          <a:xfrm>
            <a:off x="6528816" y="1920240"/>
            <a:ext cx="420624" cy="420624"/>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077456" y="1920240"/>
            <a:ext cx="4297680" cy="420624"/>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Authorisation is a design problem</a:t>
            </a:r>
            <a:endParaRPr lang="en-US" sz="1550" dirty="0"/>
          </a:p>
        </p:txBody>
      </p:sp>
      <p:sp>
        <p:nvSpPr>
          <p:cNvPr id="13" name="Text 11"/>
          <p:cNvSpPr/>
          <p:nvPr/>
        </p:nvSpPr>
        <p:spPr>
          <a:xfrm>
            <a:off x="6528816" y="2487168"/>
            <a:ext cx="4800600" cy="1051560"/>
          </a:xfrm>
          <a:prstGeom prst="rect">
            <a:avLst/>
          </a:prstGeom>
          <a:noFill/>
          <a:ln/>
        </p:spPr>
        <p:txBody>
          <a:bodyPr wrap="square" lIns="0" tIns="0" rIns="0" bIns="0" rtlCol="0" anchor="ctr"/>
          <a:lstStyle/>
          <a:p>
            <a:pPr indent="0" marL="0">
              <a:lnSpc>
                <a:spcPts val="1500"/>
              </a:lnSpc>
              <a:buNone/>
            </a:pPr>
            <a:r>
              <a:rPr lang="en-US" sz="1150" dirty="0">
                <a:solidFill>
                  <a:srgbClr val="475569"/>
                </a:solidFill>
                <a:latin typeface="Calibri" pitchFamily="34" charset="0"/>
                <a:ea typeface="Calibri" pitchFamily="34" charset="-122"/>
                <a:cs typeface="Calibri" pitchFamily="34" charset="-120"/>
              </a:rPr>
              <a:t>Checking the role inside every controller method grew unmanageable fast. Separating coarse access from per-record ownership made the whole system easier to reason about — and much easier to explain.</a:t>
            </a:r>
            <a:endParaRPr lang="en-US" sz="1150" dirty="0"/>
          </a:p>
        </p:txBody>
      </p:sp>
      <p:sp>
        <p:nvSpPr>
          <p:cNvPr id="14" name="Shape 12"/>
          <p:cNvSpPr/>
          <p:nvPr/>
        </p:nvSpPr>
        <p:spPr>
          <a:xfrm>
            <a:off x="566928" y="3858768"/>
            <a:ext cx="5358384" cy="2011680"/>
          </a:xfrm>
          <a:prstGeom prst="roundRect">
            <a:avLst>
              <a:gd name="adj" fmla="val 3636"/>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15" name="Shape 13"/>
          <p:cNvSpPr/>
          <p:nvPr/>
        </p:nvSpPr>
        <p:spPr>
          <a:xfrm>
            <a:off x="859536" y="4133088"/>
            <a:ext cx="420624" cy="420624"/>
          </a:xfrm>
          <a:prstGeom prst="ellipse">
            <a:avLst/>
          </a:prstGeom>
          <a:solidFill>
            <a:srgbClr val="22D3EE"/>
          </a:solidFill>
          <a:ln/>
        </p:spPr>
      </p:sp>
      <p:sp>
        <p:nvSpPr>
          <p:cNvPr id="16" name="Text 14"/>
          <p:cNvSpPr/>
          <p:nvPr/>
        </p:nvSpPr>
        <p:spPr>
          <a:xfrm>
            <a:off x="859536" y="4133088"/>
            <a:ext cx="420624" cy="420624"/>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08176" y="4133088"/>
            <a:ext cx="4297680" cy="420624"/>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Small framework details bite quietly</a:t>
            </a:r>
            <a:endParaRPr lang="en-US" sz="1550" dirty="0"/>
          </a:p>
        </p:txBody>
      </p:sp>
      <p:sp>
        <p:nvSpPr>
          <p:cNvPr id="18" name="Text 16"/>
          <p:cNvSpPr/>
          <p:nvPr/>
        </p:nvSpPr>
        <p:spPr>
          <a:xfrm>
            <a:off x="859536" y="4700016"/>
            <a:ext cx="4800600" cy="1051560"/>
          </a:xfrm>
          <a:prstGeom prst="rect">
            <a:avLst/>
          </a:prstGeom>
          <a:noFill/>
          <a:ln/>
        </p:spPr>
        <p:txBody>
          <a:bodyPr wrap="square" lIns="0" tIns="0" rIns="0" bIns="0" rtlCol="0" anchor="ctr"/>
          <a:lstStyle/>
          <a:p>
            <a:pPr indent="0" marL="0">
              <a:lnSpc>
                <a:spcPts val="1500"/>
              </a:lnSpc>
              <a:buNone/>
            </a:pPr>
            <a:r>
              <a:rPr lang="en-US" sz="1150" dirty="0">
                <a:solidFill>
                  <a:srgbClr val="475569"/>
                </a:solidFill>
                <a:latin typeface="Calibri" pitchFamily="34" charset="0"/>
                <a:ea typeface="Calibri" pitchFamily="34" charset="-122"/>
                <a:cs typeface="Calibri" pitchFamily="34" charset="-120"/>
              </a:rPr>
              <a:t>Naming a table jobs would have collided with Laravel's queue. Passing created_at to updateOrCreate silently did nothing because the column was guarded. Neither failed loudly; both were caught by reading carefully.</a:t>
            </a:r>
            <a:endParaRPr lang="en-US" sz="1150" dirty="0"/>
          </a:p>
        </p:txBody>
      </p:sp>
      <p:sp>
        <p:nvSpPr>
          <p:cNvPr id="19" name="Shape 17"/>
          <p:cNvSpPr/>
          <p:nvPr/>
        </p:nvSpPr>
        <p:spPr>
          <a:xfrm>
            <a:off x="6236208" y="3858768"/>
            <a:ext cx="5358384" cy="2011680"/>
          </a:xfrm>
          <a:prstGeom prst="roundRect">
            <a:avLst>
              <a:gd name="adj" fmla="val 3636"/>
            </a:avLst>
          </a:prstGeom>
          <a:solidFill>
            <a:srgbClr val="F8FAFC"/>
          </a:solidFill>
          <a:ln w="12700">
            <a:solidFill>
              <a:srgbClr val="E2E8F0"/>
            </a:solidFill>
            <a:prstDash val="solid"/>
          </a:ln>
          <a:effectLst>
            <a:outerShdw sx="100000" sy="100000" kx="0" ky="0" algn="bl" rotWithShape="0" blurRad="101600" dist="25400" dir="5400000">
              <a:srgbClr val="94A3B8">
                <a:alpha val="28000"/>
              </a:srgbClr>
            </a:outerShdw>
          </a:effectLst>
        </p:spPr>
      </p:sp>
      <p:sp>
        <p:nvSpPr>
          <p:cNvPr id="20" name="Shape 18"/>
          <p:cNvSpPr/>
          <p:nvPr/>
        </p:nvSpPr>
        <p:spPr>
          <a:xfrm>
            <a:off x="6528816" y="4133088"/>
            <a:ext cx="420624" cy="420624"/>
          </a:xfrm>
          <a:prstGeom prst="ellipse">
            <a:avLst/>
          </a:prstGeom>
          <a:solidFill>
            <a:srgbClr val="22D3EE"/>
          </a:solidFill>
          <a:ln/>
        </p:spPr>
      </p:sp>
      <p:sp>
        <p:nvSpPr>
          <p:cNvPr id="21" name="Text 19"/>
          <p:cNvSpPr/>
          <p:nvPr/>
        </p:nvSpPr>
        <p:spPr>
          <a:xfrm>
            <a:off x="6528816" y="4133088"/>
            <a:ext cx="420624" cy="420624"/>
          </a:xfrm>
          <a:prstGeom prst="rect">
            <a:avLst/>
          </a:prstGeom>
          <a:noFill/>
          <a:ln/>
        </p:spPr>
        <p:txBody>
          <a:bodyPr wrap="square" lIns="0" tIns="0" rIns="0" bIns="0" rtlCol="0" anchor="ctr"/>
          <a:lstStyle/>
          <a:p>
            <a:pPr algn="ctr" indent="0" marL="0">
              <a:buNone/>
            </a:pPr>
            <a:r>
              <a:rPr lang="en-US" sz="1500" b="1" dirty="0">
                <a:solidFill>
                  <a:srgbClr val="0F172A"/>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077456" y="4133088"/>
            <a:ext cx="4297680" cy="420624"/>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Fewer dependencies, fewer failures</a:t>
            </a:r>
            <a:endParaRPr lang="en-US" sz="1550" dirty="0"/>
          </a:p>
        </p:txBody>
      </p:sp>
      <p:sp>
        <p:nvSpPr>
          <p:cNvPr id="23" name="Text 21"/>
          <p:cNvSpPr/>
          <p:nvPr/>
        </p:nvSpPr>
        <p:spPr>
          <a:xfrm>
            <a:off x="6528816" y="4700016"/>
            <a:ext cx="4800600" cy="1051560"/>
          </a:xfrm>
          <a:prstGeom prst="rect">
            <a:avLst/>
          </a:prstGeom>
          <a:noFill/>
          <a:ln/>
        </p:spPr>
        <p:txBody>
          <a:bodyPr wrap="square" lIns="0" tIns="0" rIns="0" bIns="0" rtlCol="0" anchor="ctr"/>
          <a:lstStyle/>
          <a:p>
            <a:pPr indent="0" marL="0">
              <a:lnSpc>
                <a:spcPts val="1500"/>
              </a:lnSpc>
              <a:buNone/>
            </a:pPr>
            <a:r>
              <a:rPr lang="en-US" sz="1150" dirty="0">
                <a:solidFill>
                  <a:srgbClr val="475569"/>
                </a:solidFill>
                <a:latin typeface="Calibri" pitchFamily="34" charset="0"/>
                <a:ea typeface="Calibri" pitchFamily="34" charset="-122"/>
                <a:cs typeface="Calibri" pitchFamily="34" charset="-120"/>
              </a:rPr>
              <a:t>Choosing a CDN over a build step felt like a compromise at first. For something an evaluator has to run on an unfamiliar machine, it is the more defensible decision.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595360" y="3108960"/>
            <a:ext cx="5669280" cy="5669280"/>
          </a:xfrm>
          <a:prstGeom prst="ellipse">
            <a:avLst/>
          </a:prstGeom>
          <a:solidFill>
            <a:srgbClr val="1B3A5C"/>
          </a:solidFill>
          <a:ln/>
        </p:spPr>
      </p:sp>
      <p:sp>
        <p:nvSpPr>
          <p:cNvPr id="3" name="Shape 1"/>
          <p:cNvSpPr/>
          <p:nvPr/>
        </p:nvSpPr>
        <p:spPr>
          <a:xfrm>
            <a:off x="-1463040" y="-2011680"/>
            <a:ext cx="4572000" cy="4572000"/>
          </a:xfrm>
          <a:prstGeom prst="ellipse">
            <a:avLst/>
          </a:prstGeom>
          <a:solidFill>
            <a:srgbClr val="0E7490"/>
          </a:solidFill>
          <a:ln/>
        </p:spPr>
      </p:sp>
      <p:sp>
        <p:nvSpPr>
          <p:cNvPr id="4" name="Text 2"/>
          <p:cNvSpPr/>
          <p:nvPr/>
        </p:nvSpPr>
        <p:spPr>
          <a:xfrm>
            <a:off x="566928" y="1463040"/>
            <a:ext cx="7315200" cy="274320"/>
          </a:xfrm>
          <a:prstGeom prst="rect">
            <a:avLst/>
          </a:prstGeom>
          <a:noFill/>
          <a:ln/>
        </p:spPr>
        <p:txBody>
          <a:bodyPr wrap="square" lIns="0" tIns="0" rIns="0" bIns="0" rtlCol="0" anchor="ctr"/>
          <a:lstStyle/>
          <a:p>
            <a:pPr indent="0" marL="0">
              <a:buNone/>
            </a:pPr>
            <a:r>
              <a:rPr lang="en-US" sz="1200" b="1" spc="250" kern="0" dirty="0">
                <a:solidFill>
                  <a:srgbClr val="22D3EE"/>
                </a:solidFill>
                <a:latin typeface="Calibri" pitchFamily="34" charset="0"/>
                <a:ea typeface="Calibri" pitchFamily="34" charset="-122"/>
                <a:cs typeface="Calibri" pitchFamily="34" charset="-120"/>
              </a:rPr>
              <a:t>READY TO DEMONSTRATE</a:t>
            </a:r>
            <a:endParaRPr lang="en-US" sz="1200" dirty="0"/>
          </a:p>
        </p:txBody>
      </p:sp>
      <p:sp>
        <p:nvSpPr>
          <p:cNvPr id="5" name="Text 3"/>
          <p:cNvSpPr/>
          <p:nvPr/>
        </p:nvSpPr>
        <p:spPr>
          <a:xfrm>
            <a:off x="566928" y="1828800"/>
            <a:ext cx="7498080" cy="1554480"/>
          </a:xfrm>
          <a:prstGeom prst="rect">
            <a:avLst/>
          </a:prstGeom>
          <a:noFill/>
          <a:ln/>
        </p:spPr>
        <p:txBody>
          <a:bodyPr wrap="square" lIns="0" tIns="0" rIns="0" bIns="0" rtlCol="0" anchor="ctr"/>
          <a:lstStyle/>
          <a:p>
            <a:pPr indent="0" marL="0">
              <a:lnSpc>
                <a:spcPts val="5000"/>
              </a:lnSpc>
              <a:buNone/>
            </a:pPr>
            <a:r>
              <a:rPr lang="en-US" sz="4200" b="1" dirty="0">
                <a:solidFill>
                  <a:srgbClr val="FFFFFF"/>
                </a:solidFill>
                <a:latin typeface="Calibri" pitchFamily="34" charset="0"/>
                <a:ea typeface="Calibri" pitchFamily="34" charset="-122"/>
                <a:cs typeface="Calibri" pitchFamily="34" charset="-120"/>
              </a:rPr>
              <a:t>Let us show you</a:t>
            </a:r>
            <a:endParaRPr lang="en-US" sz="4200" dirty="0"/>
          </a:p>
          <a:p>
            <a:pPr indent="0" marL="0">
              <a:lnSpc>
                <a:spcPts val="5000"/>
              </a:lnSpc>
              <a:buNone/>
            </a:pPr>
            <a:r>
              <a:rPr lang="en-US" sz="4200" b="1" dirty="0">
                <a:solidFill>
                  <a:srgbClr val="FFFFFF"/>
                </a:solidFill>
                <a:latin typeface="Calibri" pitchFamily="34" charset="0"/>
                <a:ea typeface="Calibri" pitchFamily="34" charset="-122"/>
                <a:cs typeface="Calibri" pitchFamily="34" charset="-120"/>
              </a:rPr>
              <a:t>the running system.</a:t>
            </a:r>
            <a:endParaRPr lang="en-US" sz="4200" dirty="0"/>
          </a:p>
        </p:txBody>
      </p:sp>
      <p:sp>
        <p:nvSpPr>
          <p:cNvPr id="6" name="Text 4"/>
          <p:cNvSpPr/>
          <p:nvPr/>
        </p:nvSpPr>
        <p:spPr>
          <a:xfrm>
            <a:off x="566928" y="3520440"/>
            <a:ext cx="6949440" cy="640080"/>
          </a:xfrm>
          <a:prstGeom prst="rect">
            <a:avLst/>
          </a:prstGeom>
          <a:noFill/>
          <a:ln/>
        </p:spPr>
        <p:txBody>
          <a:bodyPr wrap="square" lIns="0" tIns="0" rIns="0" bIns="0" rtlCol="0" anchor="ctr"/>
          <a:lstStyle/>
          <a:p>
            <a:pPr indent="0" marL="0">
              <a:lnSpc>
                <a:spcPts val="2100"/>
              </a:lnSpc>
              <a:buNone/>
            </a:pPr>
            <a:r>
              <a:rPr lang="en-US" sz="1500" dirty="0">
                <a:solidFill>
                  <a:srgbClr val="A9BACD"/>
                </a:solidFill>
                <a:latin typeface="Calibri" pitchFamily="34" charset="0"/>
                <a:ea typeface="Calibri" pitchFamily="34" charset="-122"/>
                <a:cs typeface="Calibri" pitchFamily="34" charset="-120"/>
              </a:rPr>
              <a:t>Sign in as a Member, then an Expert, then an Administrator — the same six modules answer differently for each.</a:t>
            </a:r>
            <a:endParaRPr lang="en-US" sz="1500" dirty="0"/>
          </a:p>
        </p:txBody>
      </p:sp>
      <p:sp>
        <p:nvSpPr>
          <p:cNvPr id="7" name="Shape 5"/>
          <p:cNvSpPr/>
          <p:nvPr/>
        </p:nvSpPr>
        <p:spPr>
          <a:xfrm>
            <a:off x="566928" y="4498848"/>
            <a:ext cx="146304" cy="146304"/>
          </a:xfrm>
          <a:prstGeom prst="ellipse">
            <a:avLst/>
          </a:prstGeom>
          <a:solidFill>
            <a:srgbClr val="22D3EE"/>
          </a:solidFill>
          <a:ln/>
        </p:spPr>
      </p:sp>
      <p:sp>
        <p:nvSpPr>
          <p:cNvPr id="8" name="Text 6"/>
          <p:cNvSpPr/>
          <p:nvPr/>
        </p:nvSpPr>
        <p:spPr>
          <a:xfrm>
            <a:off x="877824" y="4434840"/>
            <a:ext cx="5486400" cy="27432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Source code · /src</a:t>
            </a:r>
            <a:endParaRPr lang="en-US" sz="1300" dirty="0"/>
          </a:p>
        </p:txBody>
      </p:sp>
      <p:sp>
        <p:nvSpPr>
          <p:cNvPr id="9" name="Shape 7"/>
          <p:cNvSpPr/>
          <p:nvPr/>
        </p:nvSpPr>
        <p:spPr>
          <a:xfrm>
            <a:off x="566928" y="4882896"/>
            <a:ext cx="146304" cy="146304"/>
          </a:xfrm>
          <a:prstGeom prst="ellipse">
            <a:avLst/>
          </a:prstGeom>
          <a:solidFill>
            <a:srgbClr val="22D3EE"/>
          </a:solidFill>
          <a:ln/>
        </p:spPr>
      </p:sp>
      <p:sp>
        <p:nvSpPr>
          <p:cNvPr id="10" name="Text 8"/>
          <p:cNvSpPr/>
          <p:nvPr/>
        </p:nvSpPr>
        <p:spPr>
          <a:xfrm>
            <a:off x="877824" y="4818888"/>
            <a:ext cx="5486400" cy="27432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Database schema · /schema</a:t>
            </a:r>
            <a:endParaRPr lang="en-US" sz="1300" dirty="0"/>
          </a:p>
        </p:txBody>
      </p:sp>
      <p:sp>
        <p:nvSpPr>
          <p:cNvPr id="11" name="Shape 9"/>
          <p:cNvSpPr/>
          <p:nvPr/>
        </p:nvSpPr>
        <p:spPr>
          <a:xfrm>
            <a:off x="566928" y="5266944"/>
            <a:ext cx="146304" cy="146304"/>
          </a:xfrm>
          <a:prstGeom prst="ellipse">
            <a:avLst/>
          </a:prstGeom>
          <a:solidFill>
            <a:srgbClr val="22D3EE"/>
          </a:solidFill>
          <a:ln/>
        </p:spPr>
      </p:sp>
      <p:sp>
        <p:nvSpPr>
          <p:cNvPr id="12" name="Text 10"/>
          <p:cNvSpPr/>
          <p:nvPr/>
        </p:nvSpPr>
        <p:spPr>
          <a:xfrm>
            <a:off x="877824" y="5202936"/>
            <a:ext cx="5486400" cy="27432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Documentation · /docs</a:t>
            </a:r>
            <a:endParaRPr lang="en-US" sz="1300" dirty="0"/>
          </a:p>
        </p:txBody>
      </p:sp>
      <p:sp>
        <p:nvSpPr>
          <p:cNvPr id="13" name="Shape 11"/>
          <p:cNvSpPr/>
          <p:nvPr/>
        </p:nvSpPr>
        <p:spPr>
          <a:xfrm>
            <a:off x="566928" y="5650992"/>
            <a:ext cx="146304" cy="146304"/>
          </a:xfrm>
          <a:prstGeom prst="ellipse">
            <a:avLst/>
          </a:prstGeom>
          <a:solidFill>
            <a:srgbClr val="22D3EE"/>
          </a:solidFill>
          <a:ln/>
        </p:spPr>
      </p:sp>
      <p:sp>
        <p:nvSpPr>
          <p:cNvPr id="14" name="Text 12"/>
          <p:cNvSpPr/>
          <p:nvPr/>
        </p:nvSpPr>
        <p:spPr>
          <a:xfrm>
            <a:off x="877824" y="5586984"/>
            <a:ext cx="5486400" cy="27432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Private GitHub repository</a:t>
            </a:r>
            <a:endParaRPr lang="en-US" sz="1300" dirty="0"/>
          </a:p>
        </p:txBody>
      </p:sp>
      <p:sp>
        <p:nvSpPr>
          <p:cNvPr id="15" name="Text 13"/>
          <p:cNvSpPr/>
          <p:nvPr/>
        </p:nvSpPr>
        <p:spPr>
          <a:xfrm>
            <a:off x="566928" y="6263640"/>
            <a:ext cx="914400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Titania Melody  ·  BC220203981  ·  CS619 Prototype Phase  ·  Supervisor: Mr. Abdullah Qamar</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AQDesk — Prototype Phase</dc:title>
  <dc:subject>PptxGenJS Presentation</dc:subject>
  <dc:creator>AQDesk Project Team</dc:creator>
  <cp:lastModifiedBy>AQDesk Project Team</cp:lastModifiedBy>
  <cp:revision>1</cp:revision>
  <dcterms:created xsi:type="dcterms:W3CDTF">2026-08-23T21:53:58Z</dcterms:created>
  <dcterms:modified xsi:type="dcterms:W3CDTF">2026-08-23T21:53:58Z</dcterms:modified>
</cp:coreProperties>
</file>